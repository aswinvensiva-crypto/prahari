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0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hyperlink" Target="https://data.tourism.gov.in" TargetMode="External"/><Relationship Id="rId6" Type="http://schemas.openxmlformats.org/officeDocument/2006/relationships/hyperlink" Target="https://www.openstreetmap.org" TargetMode="External"/><Relationship Id="rId7" Type="http://schemas.openxmlformats.org/officeDocument/2006/relationships/hyperlink" Target="https://openweathermap.org" TargetMode="External"/><Relationship Id="rId8" Type="http://schemas.openxmlformats.org/officeDocument/2006/relationships/hyperlink" Target="https://doi.org/10.1016/j.dib.2018.11.126" TargetMode="External"/><Relationship Id="rId9" Type="http://schemas.openxmlformats.org/officeDocument/2006/relationships/hyperlink" Target="https://github.com/WhiskeySockets/Baileys" TargetMode="External"/><Relationship Id="rId10" Type="http://schemas.openxmlformats.org/officeDocument/2006/relationships/hyperlink" Target="https://www.meity.gov.in" TargetMode="External"/><Relationship Id="rId11" Type="http://schemas.openxmlformats.org/officeDocument/2006/relationships/hyperlink" Target="https://sdgs.un.org/goals" TargetMode="External"/><Relationship Id="rId12" Type="http://schemas.openxmlformats.org/officeDocument/2006/relationships/image" Target="../media/image18.png"/><Relationship Id="rId13" Type="http://schemas.openxmlformats.org/officeDocument/2006/relationships/hyperlink" Target="https://arxiv.org/abs/2411.01636" TargetMode="External"/><Relationship Id="rId14" Type="http://schemas.openxmlformats.org/officeDocument/2006/relationships/hyperlink" Target="https://doi.org/10.1080/13683500.2025.2477142" TargetMode="External"/><Relationship Id="rId15" Type="http://schemas.openxmlformats.org/officeDocument/2006/relationships/hyperlink" Target="https://doi.org/10.31764/jseit.v5i2.30705" TargetMode="External"/><Relationship Id="rId16" Type="http://schemas.openxmlformats.org/officeDocument/2006/relationships/hyperlink" Target="https://doi.org/10.1145/2939672.2939785" TargetMode="External"/><Relationship Id="rId17" Type="http://schemas.openxmlformats.org/officeDocument/2006/relationships/hyperlink" Target="https://doi.org/10.1080/00031305.2017.138008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__________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Travel &amp; Tourism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__________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29184" y="2011680"/>
            <a:ext cx="576072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Idea: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YatraDrishti – Hyper-Personalized AI Ecosystem for Sustainable Tourism &amp; Smart Hospitality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8046720" cy="1143000"/>
          </a:xfrm>
        </p:spPr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YatraDrishti: AI Ecosystem for Sustainable Tourism &amp; Smart Hospitality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0040" y="1115568"/>
            <a:ext cx="932688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100"/>
              <a:t>YatraDrishti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365760" y="1572768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920240"/>
            <a:ext cx="11457432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YatraDrishti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is a multi-sided AI platform that unites </a:t>
            </a:r>
            <a:r>
              <a:rPr sz="1200" b="1" i="0">
                <a:solidFill>
                  <a:srgbClr val="E87722"/>
                </a:solidFill>
                <a:latin typeface="Arial"/>
              </a:rPr>
              <a:t>tourists, hoteliers, transport providers and local artisans</a:t>
            </a:r>
            <a:r>
              <a:rPr sz="1200" b="0" i="0">
                <a:solidFill>
                  <a:srgbClr val="1C2733"/>
                </a:solidFill>
                <a:latin typeface="Arial"/>
              </a:rPr>
              <a:t> in one intelligent ecosystem: a Sustainable Tourism Operating System that links demand for hotels with predictive crowd balancing for governments.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66" name="Oval 15365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67" name="Picture 15366" descr="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670048"/>
            <a:ext cx="237744" cy="237744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96926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70C0"/>
                </a:solidFill>
                <a:latin typeface="Arial"/>
              </a:rPr>
              <a:t>1  Tourist App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5720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GenAI itinerary (budget, pace, weather) · AR monument overlay · Green Travel Pass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252374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269748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2788920" y="256032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73" name="Picture 15372" descr="hot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648" y="2670048"/>
            <a:ext cx="237744" cy="237744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330098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87722"/>
                </a:solidFill>
                <a:latin typeface="Arial"/>
              </a:rPr>
              <a:t>2  Hotelier Suite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78892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XGBoost + Prophet dynamic pricing · zero-commission direct booking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485546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502920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78" name="Oval 15377"/>
          <p:cNvSpPr/>
          <p:nvPr/>
        </p:nvSpPr>
        <p:spPr>
          <a:xfrm>
            <a:off x="5120640" y="256032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79" name="Picture 15378" descr="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2670048"/>
            <a:ext cx="237744" cy="237744"/>
          </a:xfrm>
          <a:prstGeom prst="rect">
            <a:avLst/>
          </a:prstGeom>
        </p:spPr>
      </p:pic>
      <p:sp>
        <p:nvSpPr>
          <p:cNvPr id="15380" name="TextBox 15379"/>
          <p:cNvSpPr txBox="1"/>
          <p:nvPr/>
        </p:nvSpPr>
        <p:spPr>
          <a:xfrm>
            <a:off x="563270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3  Overtourism Mitigator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512064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Predicts crowd peaks · nudges to time-shifted or hidden spots with credits</a:t>
            </a:r>
          </a:p>
        </p:txBody>
      </p:sp>
      <p:sp>
        <p:nvSpPr>
          <p:cNvPr id="15382" name="Right Arrow 15381"/>
          <p:cNvSpPr/>
          <p:nvPr/>
        </p:nvSpPr>
        <p:spPr>
          <a:xfrm>
            <a:off x="718718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736092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84" name="Oval 15383"/>
          <p:cNvSpPr/>
          <p:nvPr/>
        </p:nvSpPr>
        <p:spPr>
          <a:xfrm>
            <a:off x="7452360" y="2560320"/>
            <a:ext cx="457200" cy="457200"/>
          </a:xfrm>
          <a:prstGeom prst="ellipse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85" name="Picture 15384" descr="st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2670048"/>
            <a:ext cx="237744" cy="237744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796442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A3D9A"/>
                </a:solidFill>
                <a:latin typeface="Arial"/>
              </a:rPr>
              <a:t>4  Local Vendor Hub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745236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One-click, QR-verified onboarding of guides, artisans &amp; homestays</a:t>
            </a:r>
          </a:p>
        </p:txBody>
      </p:sp>
      <p:sp>
        <p:nvSpPr>
          <p:cNvPr id="15388" name="Right Arrow 15387"/>
          <p:cNvSpPr/>
          <p:nvPr/>
        </p:nvSpPr>
        <p:spPr>
          <a:xfrm>
            <a:off x="9518904" y="2907792"/>
            <a:ext cx="146304" cy="237744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89" name="Rounded Rectangle 15388"/>
          <p:cNvSpPr/>
          <p:nvPr/>
        </p:nvSpPr>
        <p:spPr>
          <a:xfrm>
            <a:off x="9692640" y="2450592"/>
            <a:ext cx="2130552" cy="118872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5390" name="Oval 15389"/>
          <p:cNvSpPr/>
          <p:nvPr/>
        </p:nvSpPr>
        <p:spPr>
          <a:xfrm>
            <a:off x="9784080" y="256032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5391" name="Picture 15390" descr="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3808" y="2670048"/>
            <a:ext cx="237744" cy="237744"/>
          </a:xfrm>
          <a:prstGeom prst="rect">
            <a:avLst/>
          </a:prstGeom>
        </p:spPr>
      </p:pic>
      <p:sp>
        <p:nvSpPr>
          <p:cNvPr id="15392" name="TextBox 15391"/>
          <p:cNvSpPr txBox="1"/>
          <p:nvPr/>
        </p:nvSpPr>
        <p:spPr>
          <a:xfrm>
            <a:off x="10296144" y="2560320"/>
            <a:ext cx="1472184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64545"/>
                </a:solidFill>
                <a:latin typeface="Arial"/>
              </a:rPr>
              <a:t>5  Offline Edge-AI Guide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9784080" y="3072384"/>
            <a:ext cx="196596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C2733"/>
                </a:solidFill>
                <a:latin typeface="Arial"/>
              </a:rPr>
              <a:t>On-device multilingual voice guide, translation &amp; SOS without network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365760" y="3931920"/>
            <a:ext cx="5614416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411480" y="4315968"/>
            <a:ext cx="5568696" cy="2011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Overcrowded tier-1 hotspots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predictive, time-shifted rerouting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15–30% OTA commissions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zero-commission direct booking engine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Guesswork hotel pricing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AI demand forecast &amp; dynamic rates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Invisible artisans &amp; homestays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verified marketplace inside itineraries</a:t>
            </a:r>
          </a:p>
          <a:p>
            <a:pPr algn="l" marL="155448" indent="-155448">
              <a:spcAft>
                <a:spcPts val="600"/>
              </a:spcAft>
              <a:buClr>
                <a:srgbClr val="E87722"/>
              </a:buClr>
              <a:buFont typeface="Arial"/>
              <a:buChar char="•"/>
            </a:pPr>
            <a:r>
              <a:rPr sz="1200" b="1" i="0">
                <a:solidFill>
                  <a:srgbClr val="D64545"/>
                </a:solidFill>
                <a:latin typeface="Arial"/>
              </a:rPr>
              <a:t>Static, unsafe itineraries</a:t>
            </a:r>
            <a:r>
              <a:rPr sz="1200" b="0" i="0">
                <a:solidFill>
                  <a:srgbClr val="596572"/>
                </a:solidFill>
                <a:latin typeface="Arial"/>
              </a:rPr>
              <a:t>  → 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weather-aware plans + offline SOS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6208776" y="3931920"/>
            <a:ext cx="5614416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6254496" y="4315968"/>
            <a:ext cx="5568696" cy="2011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Tourism OS: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tourist actions update hotel &amp; vendor analytics live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Green Travel Credits: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crowd pressure becomes revenue for nearby spots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Enterprise AI for small hotels: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5-minute setup via WhatsApp or iCal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Offline Edge-AI: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safety guide works in no-network regions</a:t>
            </a:r>
          </a:p>
          <a:p>
            <a:pPr algn="l" marL="155448" indent="-155448">
              <a:spcAft>
                <a:spcPts val="600"/>
              </a:spcAft>
              <a:buClr>
                <a:srgbClr val="2E8B57"/>
              </a:buClr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Not an aggregator or GPT wrapper: </a:t>
            </a:r>
            <a:r>
              <a:rPr sz="1200" b="0" i="0">
                <a:solidFill>
                  <a:srgbClr val="1C2733"/>
                </a:solidFill>
                <a:latin typeface="Arial"/>
              </a:rPr>
              <a:t>real pricing models + spatial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100"/>
              <a:t>YatraDrishti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4160520" cy="56692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65760" y="1847088"/>
          <a:ext cx="416052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3063240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React Native / Flutter · Next.js dashboard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FastAPI (Python) · Node.js (TypeScript) gateway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Multi-tenant Baileys AI gateway </a:t>
                      </a:r>
                      <a:r>
                        <a:rPr sz="1000" b="1" i="0">
                          <a:solidFill>
                            <a:srgbClr val="2E8B57"/>
                          </a:solidFill>
                          <a:latin typeface="Arial"/>
                        </a:rPr>
                        <a:t>(already built)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AI / ML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XGBoost + Prophet · PyTorch · LangChain + Llama-3 / Gemini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PostgreSQL + PostGIS · Redis · H3 hexagon grid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AR / Edge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ARCore / ARKit · TensorFlow Lite (on-device)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APIs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OpenStreetMap · OpenWeatherMap · data.tourism.gov.in · Razorpay (test)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Cloud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Docker · Kubernetes · AWS / GCP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Hardware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C2733"/>
                          </a:solidFill>
                          <a:latin typeface="Arial"/>
                        </a:rPr>
                        <a:t>None: runs on any smartphone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4754880" y="1188720"/>
            <a:ext cx="7068312" cy="56692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54880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Tourist preferences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86830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Bookings / iCal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618780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Weather API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050731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Footfall data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0482681" y="1856231"/>
            <a:ext cx="1340510" cy="329184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Local events</a:t>
            </a:r>
          </a:p>
        </p:txBody>
      </p:sp>
      <p:sp>
        <p:nvSpPr>
          <p:cNvPr id="17418" name="Down Arrow 17417"/>
          <p:cNvSpPr/>
          <p:nvPr/>
        </p:nvSpPr>
        <p:spPr>
          <a:xfrm>
            <a:off x="8170164" y="2212848"/>
            <a:ext cx="237744" cy="219456"/>
          </a:xfrm>
          <a:prstGeom prst="down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754880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  Ingest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FastAPI · PostGIS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6366510" y="2679192"/>
            <a:ext cx="182880" cy="237744"/>
          </a:xfrm>
          <a:prstGeom prst="right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585966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  Forecast demand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Prophet + XGBoost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8197596" y="2679192"/>
            <a:ext cx="182880" cy="237744"/>
          </a:xfrm>
          <a:prstGeom prst="right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8417052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  Crowd density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anonymised H3 grid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10028682" y="2679192"/>
            <a:ext cx="182880" cy="237744"/>
          </a:xfrm>
          <a:prstGeom prst="right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10248138" y="2468880"/>
            <a:ext cx="1575054" cy="658368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  Peak ahead?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per site, per hour</a:t>
            </a:r>
          </a:p>
        </p:txBody>
      </p:sp>
      <p:sp>
        <p:nvSpPr>
          <p:cNvPr id="17426" name="Down Arrow 17425"/>
          <p:cNvSpPr/>
          <p:nvPr/>
        </p:nvSpPr>
        <p:spPr>
          <a:xfrm>
            <a:off x="10916793" y="3154680"/>
            <a:ext cx="237744" cy="237744"/>
          </a:xfrm>
          <a:prstGeom prst="down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9973818" y="3438144"/>
            <a:ext cx="1849374" cy="658368"/>
          </a:xfrm>
          <a:prstGeom prst="roundRect">
            <a:avLst>
              <a:gd name="adj" fmla="val 15000"/>
            </a:avLst>
          </a:prstGeom>
          <a:solidFill>
            <a:srgbClr val="FDF0E2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D64545"/>
                </a:solidFill>
                <a:latin typeface="Arial"/>
              </a:rPr>
              <a:t>YES: congestion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C2733"/>
                </a:solidFill>
                <a:latin typeface="Arial"/>
              </a:rPr>
              <a:t>NO → normal plan &amp; pricing</a:t>
            </a:r>
          </a:p>
        </p:txBody>
      </p:sp>
      <p:sp>
        <p:nvSpPr>
          <p:cNvPr id="17428" name="Left Arrow 17427"/>
          <p:cNvSpPr/>
          <p:nvPr/>
        </p:nvSpPr>
        <p:spPr>
          <a:xfrm>
            <a:off x="9681210" y="3648456"/>
            <a:ext cx="256032" cy="237744"/>
          </a:xfrm>
          <a:prstGeom prst="leftArrow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4754880" y="3438144"/>
            <a:ext cx="4889754" cy="658368"/>
          </a:xfrm>
          <a:prstGeom prst="roundRect">
            <a:avLst>
              <a:gd name="adj" fmla="val 15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5  Rebalance: time-shifted or secondary-site nudge + Green Travel Credits; hotel rates re-optimised</a:t>
            </a:r>
          </a:p>
        </p:txBody>
      </p:sp>
      <p:sp>
        <p:nvSpPr>
          <p:cNvPr id="17430" name="Down Arrow 17429"/>
          <p:cNvSpPr/>
          <p:nvPr/>
        </p:nvSpPr>
        <p:spPr>
          <a:xfrm>
            <a:off x="6734556" y="4133087"/>
            <a:ext cx="237744" cy="219456"/>
          </a:xfrm>
          <a:prstGeom prst="downArrow">
            <a:avLst/>
          </a:prstGeom>
          <a:solidFill>
            <a:srgbClr val="59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4754880" y="4389120"/>
            <a:ext cx="2264664" cy="54864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Tourist app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itinerary · AR · credits · SOS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156704" y="4389120"/>
            <a:ext cx="2264664" cy="54864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Hotel dashboard + WhatsApp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rate alerts · direct bookings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558528" y="4389120"/>
            <a:ext cx="2264664" cy="54864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Arial"/>
              </a:rPr>
              <a:t>Govt analytics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1C2733"/>
                </a:solidFill>
                <a:latin typeface="Arial"/>
              </a:rPr>
              <a:t>footfall heatmap · policy switch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754880" y="5047488"/>
            <a:ext cx="7068312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36-hour prototype plan (1 pilot circuit, public + synthetic data)</a:t>
            </a:r>
          </a:p>
        </p:txBody>
      </p:sp>
      <p:sp>
        <p:nvSpPr>
          <p:cNvPr id="17435" name="Pentagon 17434"/>
          <p:cNvSpPr/>
          <p:nvPr/>
        </p:nvSpPr>
        <p:spPr>
          <a:xfrm>
            <a:off x="4754880" y="5340096"/>
            <a:ext cx="1472184" cy="530352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0–6 h  Data &amp; schema</a:t>
            </a:r>
          </a:p>
        </p:txBody>
      </p:sp>
      <p:sp>
        <p:nvSpPr>
          <p:cNvPr id="17436" name="Chevron 17435"/>
          <p:cNvSpPr/>
          <p:nvPr/>
        </p:nvSpPr>
        <p:spPr>
          <a:xfrm>
            <a:off x="6153912" y="5340096"/>
            <a:ext cx="1472184" cy="530352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6–14 h  Pricing &amp; forecast</a:t>
            </a:r>
          </a:p>
        </p:txBody>
      </p:sp>
      <p:sp>
        <p:nvSpPr>
          <p:cNvPr id="17437" name="Chevron 17436"/>
          <p:cNvSpPr/>
          <p:nvPr/>
        </p:nvSpPr>
        <p:spPr>
          <a:xfrm>
            <a:off x="7552944" y="5340096"/>
            <a:ext cx="1472184" cy="530352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14–22 h  Itinerary AI &amp; crowd</a:t>
            </a:r>
          </a:p>
        </p:txBody>
      </p:sp>
      <p:sp>
        <p:nvSpPr>
          <p:cNvPr id="17438" name="Chevron 17437"/>
          <p:cNvSpPr/>
          <p:nvPr/>
        </p:nvSpPr>
        <p:spPr>
          <a:xfrm>
            <a:off x="8951976" y="5340096"/>
            <a:ext cx="1472184" cy="530352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22–30 h  Apps &amp; AR</a:t>
            </a:r>
          </a:p>
        </p:txBody>
      </p:sp>
      <p:sp>
        <p:nvSpPr>
          <p:cNvPr id="17439" name="Chevron 17438"/>
          <p:cNvSpPr/>
          <p:nvPr/>
        </p:nvSpPr>
        <p:spPr>
          <a:xfrm>
            <a:off x="10351008" y="5340096"/>
            <a:ext cx="1472184" cy="530352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30–36 h  Test &amp; demo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65760" y="5943600"/>
            <a:ext cx="11430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D64545"/>
                </a:solidFill>
                <a:latin typeface="Arial"/>
              </a:rPr>
              <a:t>Emergency policy switch: </a:t>
            </a:r>
            <a:r>
              <a:rPr sz="1000" b="0" i="0">
                <a:solidFill>
                  <a:srgbClr val="596572"/>
                </a:solidFill>
                <a:latin typeface="Arial"/>
              </a:rPr>
              <a:t>one admin flag freezes discounts and reroutes tourists during flood / weather alerts (can be shown live to judges).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100"/>
              <a:t>YatraDrishti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09344"/>
            <a:ext cx="2727198" cy="1261872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475488" y="1682496"/>
            <a:ext cx="402336" cy="40233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3" name="Picture 17412" descr="whats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48" y="1779056"/>
            <a:ext cx="209214" cy="20921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50976" y="1682496"/>
            <a:ext cx="206883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Technical ✔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2157984"/>
            <a:ext cx="2544318" cy="7132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Multi-tenant WhatsApp AI gateway already working</a:t>
            </a:r>
          </a:p>
          <a:p>
            <a:pPr algn="l" marL="155448" indent="-155448">
              <a:spcAft>
                <a:spcPts val="2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Per-tenant AI prompts defined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75838" y="1609344"/>
            <a:ext cx="2727198" cy="126187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3385566" y="168249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8" name="Picture 17417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2126" y="1779056"/>
            <a:ext cx="209214" cy="20921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861054" y="1682496"/>
            <a:ext cx="206883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Data &amp; APIs ✔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385566" y="2157984"/>
            <a:ext cx="2544318" cy="7132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1F3864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data.tourism.gov.in, OSM, weather, Kaggle hotel data</a:t>
            </a:r>
          </a:p>
          <a:p>
            <a:pPr algn="l" marL="155448" indent="-155448">
              <a:spcAft>
                <a:spcPts val="200"/>
              </a:spcAft>
              <a:buClr>
                <a:srgbClr val="1F3864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Backup: synthetic footfall + 50 hotels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85916" y="1609344"/>
            <a:ext cx="2727198" cy="1261872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6295644" y="1682496"/>
            <a:ext cx="402336" cy="40233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3" name="Picture 17422" descr="econ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2204" y="1779056"/>
            <a:ext cx="209214" cy="209214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771132" y="1682496"/>
            <a:ext cx="206883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Economic ✔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95644" y="2157984"/>
            <a:ext cx="2544318" cy="7132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Hotel SaaS ≈ ₹1,250–4,200 / month</a:t>
            </a:r>
          </a:p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3–5% fee on local experiences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095994" y="1609344"/>
            <a:ext cx="2727198" cy="1261872"/>
          </a:xfrm>
          <a:prstGeom prst="roundRect">
            <a:avLst>
              <a:gd name="adj" fmla="val 10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9205722" y="1682496"/>
            <a:ext cx="402336" cy="402336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8" name="Picture 17427" descr="o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2282" y="1779056"/>
            <a:ext cx="209214" cy="20921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9681210" y="1682496"/>
            <a:ext cx="206883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Operational ✔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205722" y="2157984"/>
            <a:ext cx="2544318" cy="7132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5-minute hotel setup via WhatsApp / iCal</a:t>
            </a:r>
          </a:p>
          <a:p>
            <a:pPr algn="l" marL="155448" indent="-155448">
              <a:spcAft>
                <a:spcPts val="2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Fits existing hotel PMS</a:t>
            </a:r>
          </a:p>
        </p:txBody>
      </p:sp>
      <p:sp>
        <p:nvSpPr>
          <p:cNvPr id="17431" name="Pentagon 17430"/>
          <p:cNvSpPr/>
          <p:nvPr/>
        </p:nvSpPr>
        <p:spPr>
          <a:xfrm>
            <a:off x="365760" y="2971800"/>
            <a:ext cx="2932938" cy="51206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1: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Pilot: Golden Triangle, Puducherry, Himachal</a:t>
            </a:r>
          </a:p>
        </p:txBody>
      </p:sp>
      <p:sp>
        <p:nvSpPr>
          <p:cNvPr id="17432" name="Chevron 17431"/>
          <p:cNvSpPr/>
          <p:nvPr/>
        </p:nvSpPr>
        <p:spPr>
          <a:xfrm>
            <a:off x="3207258" y="2971800"/>
            <a:ext cx="2932938" cy="512064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2: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State Tourism Dev. Corporations</a:t>
            </a:r>
          </a:p>
        </p:txBody>
      </p:sp>
      <p:sp>
        <p:nvSpPr>
          <p:cNvPr id="17433" name="Chevron 17432"/>
          <p:cNvSpPr/>
          <p:nvPr/>
        </p:nvSpPr>
        <p:spPr>
          <a:xfrm>
            <a:off x="6048756" y="2971800"/>
            <a:ext cx="2932938" cy="512064"/>
          </a:xfrm>
          <a:prstGeom prst="chevron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3: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Hotel associations &amp; homestay networks</a:t>
            </a:r>
          </a:p>
        </p:txBody>
      </p:sp>
      <p:sp>
        <p:nvSpPr>
          <p:cNvPr id="17434" name="Chevron 17433"/>
          <p:cNvSpPr/>
          <p:nvPr/>
        </p:nvSpPr>
        <p:spPr>
          <a:xfrm>
            <a:off x="8890254" y="2971800"/>
            <a:ext cx="2932938" cy="512064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" bIns="27432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National: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Incredible India integration</a:t>
            </a:r>
          </a:p>
        </p:txBody>
      </p:sp>
      <p:graphicFrame>
        <p:nvGraphicFramePr>
          <p:cNvPr id="17435" name="Table 17434"/>
          <p:cNvGraphicFramePr>
            <a:graphicFrameLocks noGrp="1"/>
          </p:cNvGraphicFramePr>
          <p:nvPr/>
        </p:nvGraphicFramePr>
        <p:xfrm>
          <a:off x="365760" y="3593592"/>
          <a:ext cx="11457432" cy="2496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66160"/>
                <a:gridCol w="7891272"/>
              </a:tblGrid>
              <a:tr h="35661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73152" marR="73152" marT="27432" marB="27432" anchor="ctr">
                    <a:solidFill>
                      <a:srgbClr val="D64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73152" marR="73152" marT="27432" marB="27432" anchor="ctr">
                    <a:solidFill>
                      <a:srgbClr val="2E8B5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D64545"/>
                          </a:solidFill>
                          <a:latin typeface="Arial"/>
                        </a:rPr>
                        <a:t>WhatsApp session keys exposed in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C2733"/>
                          </a:solidFill>
                          <a:latin typeface="Arial"/>
                        </a:rPr>
                        <a:t>Revoke linked device, purge .baileys_auth from git, secrets in environment variables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D64545"/>
                          </a:solidFill>
                          <a:latin typeface="Arial"/>
                        </a:rPr>
                        <a:t>Sessions lost on every restart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C2733"/>
                          </a:solidFill>
                          <a:latin typeface="Arial"/>
                        </a:rPr>
                        <a:t>Database-backed auth store (PostgreSQL / Redis) with caching &amp; safe key serialisation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D64545"/>
                          </a:solidFill>
                          <a:latin typeface="Arial"/>
                        </a:rPr>
                        <a:t>WhatsApp rate limits / number ban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C2733"/>
                          </a:solidFill>
                          <a:latin typeface="Arial"/>
                        </a:rPr>
                        <a:t>Outbound queue, rate limiter, randomised delays; official WhatsApp Business API in production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D64545"/>
                          </a:solidFill>
                          <a:latin typeface="Arial"/>
                        </a:rPr>
                        <a:t>Cross-tenant data leakage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C2733"/>
                          </a:solidFill>
                          <a:latin typeface="Arial"/>
                        </a:rPr>
                        <a:t>Per-tenant session factory + JWT tenant binding on every endpoint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D64545"/>
                          </a:solidFill>
                          <a:latin typeface="Arial"/>
                        </a:rPr>
                        <a:t>No live telecom crowd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C2733"/>
                          </a:solidFill>
                          <a:latin typeface="Arial"/>
                        </a:rPr>
                        <a:t>Anonymised H3 density counts + Poisson-simulated footfall (DPDP Act 2023)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D64545"/>
                          </a:solidFill>
                          <a:latin typeface="Arial"/>
                        </a:rPr>
                        <a:t>Hotels resist new software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C2733"/>
                          </a:solidFill>
                          <a:latin typeface="Arial"/>
                        </a:rPr>
                        <a:t>Zero-friction iCal / webhook sync with existing PMS; rate tips on WhatsApp</a:t>
                      </a:r>
                    </a:p>
                  </a:txBody>
                  <a:tcPr marL="73152" marR="73152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100"/>
              <a:t>YatraDrishti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09344"/>
            <a:ext cx="2727198" cy="1828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475488" y="1700784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3" name="Picture 17412" descr="trave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26" y="1806122"/>
            <a:ext cx="228234" cy="22823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87552" y="1700784"/>
            <a:ext cx="204139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Tourists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2157984"/>
            <a:ext cx="2544318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20–35%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5488" y="2505456"/>
            <a:ext cx="2544318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96572"/>
                </a:solidFill>
                <a:latin typeface="Arial"/>
              </a:rPr>
              <a:t>savings on off-peak routes*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75488" y="2761488"/>
            <a:ext cx="2544318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Budget-aware custom trips</a:t>
            </a:r>
          </a:p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Eco-travel rewards</a:t>
            </a:r>
          </a:p>
          <a:p>
            <a:pPr algn="l" marL="155448" indent="-155448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Offline SOS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75838" y="1609344"/>
            <a:ext cx="2727198" cy="1828800"/>
          </a:xfrm>
          <a:prstGeom prst="roundRect">
            <a:avLst>
              <a:gd name="adj" fmla="val 8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3385566" y="1700784"/>
            <a:ext cx="438912" cy="438912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0" name="Picture 17419" descr="hot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904" y="1806122"/>
            <a:ext cx="228234" cy="22823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3897630" y="1700784"/>
            <a:ext cx="204139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Small hotels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385566" y="2157984"/>
            <a:ext cx="2544318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+22–30%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385566" y="2505456"/>
            <a:ext cx="2544318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96572"/>
                </a:solidFill>
                <a:latin typeface="Arial"/>
              </a:rPr>
              <a:t>low-season yield*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385566" y="2761488"/>
            <a:ext cx="2544318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Zero-commission bookings</a:t>
            </a:r>
          </a:p>
          <a:p>
            <a:pPr algn="l" marL="155448" indent="-155448">
              <a:spcAft>
                <a:spcPts val="2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AI rate tips on WhatsApp</a:t>
            </a:r>
          </a:p>
          <a:p>
            <a:pPr algn="l" marL="155448" indent="-155448">
              <a:spcAft>
                <a:spcPts val="200"/>
              </a:spcAft>
              <a:buClr>
                <a:srgbClr val="E87722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Own their guest data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85916" y="1609344"/>
            <a:ext cx="2727198" cy="1828800"/>
          </a:xfrm>
          <a:prstGeom prst="roundRect">
            <a:avLst>
              <a:gd name="adj" fmla="val 8000"/>
            </a:avLst>
          </a:prstGeom>
          <a:solidFill>
            <a:srgbClr val="F1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6295644" y="1700784"/>
            <a:ext cx="438912" cy="438912"/>
          </a:xfrm>
          <a:prstGeom prst="ellipse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27" name="Picture 17426" descr="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982" y="1806122"/>
            <a:ext cx="228234" cy="228234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6807708" y="1700784"/>
            <a:ext cx="204139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A3D9A"/>
                </a:solidFill>
                <a:latin typeface="Arial"/>
              </a:rPr>
              <a:t>Artisans &amp; locals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295644" y="2157984"/>
            <a:ext cx="2544318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+35%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295644" y="2505456"/>
            <a:ext cx="2544318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96572"/>
                </a:solidFill>
                <a:latin typeface="Arial"/>
              </a:rPr>
              <a:t>direct revenue*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295644" y="2761488"/>
            <a:ext cx="2544318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6A3D9A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Verified digital badge</a:t>
            </a:r>
          </a:p>
          <a:p>
            <a:pPr algn="l" marL="155448" indent="-155448">
              <a:spcAft>
                <a:spcPts val="200"/>
              </a:spcAft>
              <a:buClr>
                <a:srgbClr val="6A3D9A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Direct tourist reach</a:t>
            </a:r>
          </a:p>
          <a:p>
            <a:pPr algn="l" marL="155448" indent="-155448">
              <a:spcAft>
                <a:spcPts val="200"/>
              </a:spcAft>
              <a:buClr>
                <a:srgbClr val="6A3D9A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No middlemen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095994" y="1609344"/>
            <a:ext cx="2727198" cy="18288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9205722" y="1700784"/>
            <a:ext cx="438912" cy="43891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34" name="Picture 17433" descr="go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1060" y="1806122"/>
            <a:ext cx="228234" cy="22823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9717786" y="1700784"/>
            <a:ext cx="204139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Governments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205722" y="2157984"/>
            <a:ext cx="2544318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up to 40%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205722" y="2505456"/>
            <a:ext cx="2544318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96572"/>
                </a:solidFill>
                <a:latin typeface="Arial"/>
              </a:rPr>
              <a:t>less peak congestion*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205722" y="2761488"/>
            <a:ext cx="2544318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2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Predictive heatmaps</a:t>
            </a:r>
          </a:p>
          <a:p>
            <a:pPr algn="l" marL="155448" indent="-155448">
              <a:spcAft>
                <a:spcPts val="2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Emergency policy switch</a:t>
            </a:r>
          </a:p>
          <a:p>
            <a:pPr algn="l" marL="155448" indent="-155448">
              <a:spcAft>
                <a:spcPts val="200"/>
              </a:spcAft>
              <a:buClr>
                <a:srgbClr val="2E8B57"/>
              </a:buClr>
              <a:buFont typeface="Arial"/>
              <a:buChar char="•"/>
            </a:pPr>
            <a:r>
              <a:rPr sz="1050" b="0" i="0">
                <a:solidFill>
                  <a:srgbClr val="1C2733"/>
                </a:solidFill>
                <a:latin typeface="Arial"/>
              </a:rPr>
              <a:t>Greener destinations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65760" y="3566160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65760" y="3986784"/>
            <a:ext cx="272719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41" name="Oval 17440"/>
          <p:cNvSpPr/>
          <p:nvPr/>
        </p:nvSpPr>
        <p:spPr>
          <a:xfrm>
            <a:off x="475488" y="4078224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42" name="Picture 17441" descr="soci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437" y="4179173"/>
            <a:ext cx="218724" cy="21872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969264" y="4078224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Social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93776" y="4572000"/>
            <a:ext cx="2507741" cy="1325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Preserves indigenous crafts &amp; heritage</a:t>
            </a:r>
          </a:p>
          <a:p>
            <a:pPr algn="l" marL="155448" indent="-155448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Brings tier-2/3 &amp; rural areas into tourism</a:t>
            </a:r>
          </a:p>
          <a:p>
            <a:pPr algn="l" marL="155448" indent="-155448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Multilingual access for all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3275838" y="3986784"/>
            <a:ext cx="272719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46" name="Oval 17445"/>
          <p:cNvSpPr/>
          <p:nvPr/>
        </p:nvSpPr>
        <p:spPr>
          <a:xfrm>
            <a:off x="3385566" y="4078224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47" name="Picture 17446" descr="econom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515" y="4179173"/>
            <a:ext cx="218724" cy="218724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3879341" y="4078224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Arial"/>
              </a:rPr>
              <a:t>Economic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403854" y="4572000"/>
            <a:ext cx="2507741" cy="1325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2E8B57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Spend shifts from OTAs to local economies</a:t>
            </a:r>
          </a:p>
          <a:p>
            <a:pPr algn="l" marL="155448" indent="-155448">
              <a:spcAft>
                <a:spcPts val="500"/>
              </a:spcAft>
              <a:buClr>
                <a:srgbClr val="2E8B57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Hotels keep 100% of direct-booking margin</a:t>
            </a:r>
          </a:p>
          <a:p>
            <a:pPr algn="l" marL="155448" indent="-155448">
              <a:spcAft>
                <a:spcPts val="500"/>
              </a:spcAft>
              <a:buClr>
                <a:srgbClr val="2E8B57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New income for guides &amp; homestays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185916" y="3986784"/>
            <a:ext cx="272719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6295644" y="4078224"/>
            <a:ext cx="420624" cy="420624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52" name="Picture 17451" descr="env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6593" y="4179173"/>
            <a:ext cx="218724" cy="218724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6789420" y="4078224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A7D44"/>
                </a:solidFill>
                <a:latin typeface="Arial"/>
              </a:rPr>
              <a:t>Environmental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313932" y="4572000"/>
            <a:ext cx="2507741" cy="1325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3A7D44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Less strain on fragile spots (Ladakh, Shimla, Munnar)</a:t>
            </a:r>
          </a:p>
          <a:p>
            <a:pPr algn="l" marL="155448" indent="-155448">
              <a:spcAft>
                <a:spcPts val="500"/>
              </a:spcAft>
              <a:buClr>
                <a:srgbClr val="3A7D44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Rewards off-peak &amp; eco-friendly transit</a:t>
            </a:r>
          </a:p>
          <a:p>
            <a:pPr algn="l" marL="155448" indent="-155448">
              <a:spcAft>
                <a:spcPts val="500"/>
              </a:spcAft>
              <a:buClr>
                <a:srgbClr val="3A7D44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Supports SDG 8 &amp; SDG 12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9095994" y="3986784"/>
            <a:ext cx="272719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sp>
        <p:nvSpPr>
          <p:cNvPr id="17456" name="Oval 17455"/>
          <p:cNvSpPr/>
          <p:nvPr/>
        </p:nvSpPr>
        <p:spPr>
          <a:xfrm>
            <a:off x="9205722" y="4078224"/>
            <a:ext cx="420624" cy="420624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57" name="Picture 17456" descr="kava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6671" y="4179173"/>
            <a:ext cx="218724" cy="218724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9699498" y="4078224"/>
            <a:ext cx="206883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64545"/>
                </a:solidFill>
                <a:latin typeface="Arial"/>
              </a:rPr>
              <a:t>Safety &amp; privacy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9224010" y="4572000"/>
            <a:ext cx="2507741" cy="1325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D64545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Offline SOS in no-network areas</a:t>
            </a:r>
          </a:p>
          <a:p>
            <a:pPr algn="l" marL="155448" indent="-155448">
              <a:spcAft>
                <a:spcPts val="500"/>
              </a:spcAft>
              <a:buClr>
                <a:srgbClr val="D64545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DPDP Act 2023: no PII, anonymised H3 counts</a:t>
            </a:r>
          </a:p>
          <a:p>
            <a:pPr algn="l" marL="155448" indent="-155448">
              <a:spcAft>
                <a:spcPts val="500"/>
              </a:spcAft>
              <a:buClr>
                <a:srgbClr val="D64545"/>
              </a:buClr>
              <a:buFont typeface="Arial"/>
              <a:buChar char="•"/>
            </a:pPr>
            <a:r>
              <a:rPr sz="1150" b="0" i="0">
                <a:solidFill>
                  <a:srgbClr val="1C2733"/>
                </a:solidFill>
                <a:latin typeface="Arial"/>
              </a:rPr>
              <a:t>Weather-aware re-planning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365760" y="5998464"/>
            <a:ext cx="11430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96572"/>
                </a:solidFill>
                <a:latin typeface="Arial"/>
              </a:rPr>
              <a:t>*Target outcomes to be validated in the pilot; microservice-based dynamic pricing has shown +22% revenue in published research (Barua &amp; Kaiser, 2024).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b="1" sz="1100"/>
              <a:t>YatraDrishti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3108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27432" bIns="27432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87722"/>
                </a:solidFill>
                <a:latin typeface="Arial"/>
              </a:rPr>
              <a:t>❖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65760" y="164592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2" name="Picture 17411" descr="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31" y="1738091"/>
            <a:ext cx="199704" cy="199704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41248" y="1645920"/>
            <a:ext cx="507492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Data, platforms &amp; policy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2121408"/>
            <a:ext cx="5577840" cy="3566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Ministry of Tourism data portal (tourist footfall)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5"/>
              </a:rPr>
              <a:t>data.tourism.gov.in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OpenStreetMap (heritage sites, transit nodes)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6"/>
              </a:rPr>
              <a:t>openstreetmap.org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OpenWeatherMap API (weather-aware plans)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7"/>
              </a:rPr>
              <a:t>openweathermap.org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Antonio et al. (2019) Hotel booking demand datasets, Data in Brief 22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8"/>
              </a:rPr>
              <a:t>doi:10.1016/j.dib.2018.11.126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Baileys WhatsApp Web library (our gateway)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9"/>
              </a:rPr>
              <a:t>github.com/WhiskeySockets/Baileys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Digital Personal Data Protection Act 2023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0"/>
              </a:rPr>
              <a:t>meity.gov.in</a:t>
            </a:r>
          </a:p>
          <a:p>
            <a:pPr algn="l" marL="155448" indent="-155448"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UN Sustainable Development Goals 8 &amp; 12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1"/>
              </a:rPr>
              <a:t>sdgs.un.org/goals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6245352" y="1645920"/>
            <a:ext cx="384048" cy="384048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</a:p>
        </p:txBody>
      </p:sp>
      <p:pic>
        <p:nvPicPr>
          <p:cNvPr id="17416" name="Picture 17415" descr="flas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7523" y="1738091"/>
            <a:ext cx="199704" cy="19970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720840" y="1645920"/>
            <a:ext cx="507492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722"/>
                </a:solidFill>
                <a:latin typeface="Arial"/>
              </a:rPr>
              <a:t>Research papers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45352" y="2121408"/>
            <a:ext cx="5577840" cy="3566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Barua &amp; Kaiser (2024) Microservices dynamic pricing in travel: +22% revenue, 17% faster pricing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3"/>
              </a:rPr>
              <a:t>arXiv:2411.01636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Gössling &amp; Mei (2025) AI and sustainable tourism: risks &amp; opportunities for the SDGs, Current Issues in Tourism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4"/>
              </a:rPr>
              <a:t>doi:10.1080/13683500.2025.2477142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Sidiq et al. (2025) Role of AI in transforming smart tourism, JSEIT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5"/>
              </a:rPr>
              <a:t>doi:10.31764/jseit.v5i2.30705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Chen &amp; Guestrin (2016) XGBoost: a scalable tree boosting system, KDD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6"/>
              </a:rPr>
              <a:t>doi:10.1145/2939672.2939785</a:t>
            </a:r>
          </a:p>
          <a:p>
            <a:pPr algn="l" marL="155448" indent="-155448">
              <a:spcAft>
                <a:spcPts val="500"/>
              </a:spcAft>
              <a:buClr>
                <a:srgbClr val="E87722"/>
              </a:buClr>
              <a:buFont typeface="Arial"/>
              <a:buChar char="•"/>
            </a:pPr>
            <a:r>
              <a:rPr sz="1100" b="0" i="0">
                <a:solidFill>
                  <a:srgbClr val="1C2733"/>
                </a:solidFill>
                <a:latin typeface="Arial"/>
              </a:rPr>
              <a:t>Taylor &amp; Letham (2018) Forecasting at scale (Prophet), The American Statistician</a:t>
            </a:r>
            <a:r>
              <a:rPr sz="1100" b="0" i="0">
                <a:solidFill>
                  <a:srgbClr val="1C2733"/>
                </a:solidFill>
                <a:latin typeface="Arial"/>
              </a:rPr>
              <a:t>  </a:t>
            </a:r>
            <a:r>
              <a:rPr sz="1100" b="0" i="0">
                <a:solidFill>
                  <a:srgbClr val="0070C0"/>
                </a:solidFill>
                <a:latin typeface="Arial"/>
                <a:hlinkClick r:id="rId17"/>
              </a:rPr>
              <a:t>doi:10.1080/00031305.2017.1380080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5010912"/>
            <a:ext cx="11457432" cy="548640"/>
          </a:xfrm>
          <a:prstGeom prst="roundRect">
            <a:avLst>
              <a:gd name="adj" fmla="val 30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" bIns="27432" wrap="square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8B57"/>
                </a:solidFill>
                <a:latin typeface="Arial"/>
              </a:rPr>
              <a:t>Our prototype base: </a:t>
            </a:r>
            <a:r>
              <a:rPr sz="1050" b="0" i="0">
                <a:solidFill>
                  <a:srgbClr val="1C2733"/>
                </a:solidFill>
                <a:latin typeface="Arial"/>
              </a:rPr>
              <a:t>working multi-tenant WhatsApp AI gateway (Node.js + Baileys) with per-tenant AI prompts; codebase security review done and remediation plan defined (see Feasibility).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5687568"/>
            <a:ext cx="11457432" cy="548640"/>
          </a:xfrm>
          <a:prstGeom prst="roundRect">
            <a:avLst>
              <a:gd name="adj" fmla="val 3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" bIns="27432" wrap="square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Competitors studied: </a:t>
            </a:r>
            <a:r>
              <a:rPr sz="1050" b="0" i="0">
                <a:solidFill>
                  <a:srgbClr val="1C2733"/>
                </a:solidFill>
                <a:latin typeface="Arial"/>
              </a:rPr>
              <a:t>MakeMyTrip, Booking.com, EaseMyTrip (OTAs, 15–30% commission, no crowd balancing) · Mindtrip.ai (AI planner, no hotel/PMS link) · Airbnb Experiences · state tourism apps (information only).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