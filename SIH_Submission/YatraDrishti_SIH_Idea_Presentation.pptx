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6.png"/><Relationship Id="rId7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7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6.png"/><Relationship Id="rId10" Type="http://schemas.openxmlformats.org/officeDocument/2006/relationships/image" Target="../media/image14.png"/><Relationship Id="rId11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hyperlink" Target="https://data.tourism.gov.in" TargetMode="External"/><Relationship Id="rId6" Type="http://schemas.openxmlformats.org/officeDocument/2006/relationships/hyperlink" Target="https://www.openstreetmap.org" TargetMode="External"/><Relationship Id="rId7" Type="http://schemas.openxmlformats.org/officeDocument/2006/relationships/hyperlink" Target="https://openweathermap.org" TargetMode="External"/><Relationship Id="rId8" Type="http://schemas.openxmlformats.org/officeDocument/2006/relationships/hyperlink" Target="https://doi.org/10.1016/j.dib.2018.11.126" TargetMode="External"/><Relationship Id="rId9" Type="http://schemas.openxmlformats.org/officeDocument/2006/relationships/hyperlink" Target="https://github.com/WhiskeySockets/Baileys" TargetMode="External"/><Relationship Id="rId10" Type="http://schemas.openxmlformats.org/officeDocument/2006/relationships/hyperlink" Target="https://www.meity.gov.in" TargetMode="External"/><Relationship Id="rId11" Type="http://schemas.openxmlformats.org/officeDocument/2006/relationships/hyperlink" Target="https://sdgs.un.org/goals" TargetMode="External"/><Relationship Id="rId12" Type="http://schemas.openxmlformats.org/officeDocument/2006/relationships/image" Target="../media/image16.png"/><Relationship Id="rId13" Type="http://schemas.openxmlformats.org/officeDocument/2006/relationships/hyperlink" Target="https://arxiv.org/abs/2411.01636" TargetMode="External"/><Relationship Id="rId14" Type="http://schemas.openxmlformats.org/officeDocument/2006/relationships/hyperlink" Target="https://doi.org/10.1080/13683500.2025.2477142" TargetMode="External"/><Relationship Id="rId15" Type="http://schemas.openxmlformats.org/officeDocument/2006/relationships/hyperlink" Target="https://doi.org/10.1111/j.1540-6261.1961.tb02789.x" TargetMode="External"/><Relationship Id="rId16" Type="http://schemas.openxmlformats.org/officeDocument/2006/relationships/hyperlink" Target="https://doi.org/10.1145/2939672.2939785" TargetMode="External"/><Relationship Id="rId17" Type="http://schemas.openxmlformats.org/officeDocument/2006/relationships/hyperlink" Target="https://doi.org/10.1080/00031305.2017.138008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2025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__________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 Innovation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Travel &amp; Tourism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__________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________</a:t>
            </a: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329184" y="2011680"/>
            <a:ext cx="5760720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7722"/>
                </a:solidFill>
                <a:latin typeface="Arial"/>
              </a:rPr>
              <a:t>Idea: </a:t>
            </a:r>
            <a:r>
              <a:rPr sz="1300" b="1" i="0">
                <a:solidFill>
                  <a:srgbClr val="1F3864"/>
                </a:solidFill>
                <a:latin typeface="Arial"/>
              </a:rPr>
              <a:t>YatraDrishti – Hyper-Personalized AI Ecosystem for Sustainable Tourism &amp; Smart Hospitality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0"/>
            <a:ext cx="8046720" cy="1143000"/>
          </a:xfrm>
        </p:spPr>
        <p:txBody>
          <a:bodyPr/>
          <a:lstStyle/>
          <a:p>
            <a:pPr eaLnBrk="1" hangingPunct="1"/>
            <a:r>
              <a:rPr lang="en-US" sz="1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YatraDrishti: AI Ecosystem for Sustainable Tourism &amp; Smart Hospitality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0040" y="1115568"/>
            <a:ext cx="9326880" cy="365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18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b="1" sz="1100"/>
              <a:t>YatraDrishti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3" name="Rounded Rectangle 15362"/>
          <p:cNvSpPr/>
          <p:nvPr/>
        </p:nvSpPr>
        <p:spPr>
          <a:xfrm>
            <a:off x="365760" y="1572768"/>
            <a:ext cx="11457432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65760" y="1920240"/>
            <a:ext cx="11457432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YatraDrishti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turns every small hotel's WhatsApp into an </a:t>
            </a:r>
            <a:r>
              <a:rPr sz="1200" b="1" i="0">
                <a:solidFill>
                  <a:srgbClr val="E87722"/>
                </a:solidFill>
                <a:latin typeface="Arial"/>
              </a:rPr>
              <a:t>AI front desk</a:t>
            </a:r>
            <a:r>
              <a:rPr sz="1200" b="0" i="0">
                <a:solidFill>
                  <a:srgbClr val="1C2733"/>
                </a:solidFill>
                <a:latin typeface="Arial"/>
              </a:rPr>
              <a:t> and links them in a live </a:t>
            </a:r>
            <a:r>
              <a:rPr sz="1200" b="1" i="0">
                <a:solidFill>
                  <a:srgbClr val="E87722"/>
                </a:solidFill>
                <a:latin typeface="Arial"/>
              </a:rPr>
              <a:t>Tourism Demand Exchange</a:t>
            </a:r>
            <a:r>
              <a:rPr sz="1200" b="0" i="0">
                <a:solidFill>
                  <a:srgbClr val="1C2733"/>
                </a:solidFill>
                <a:latin typeface="Arial"/>
              </a:rPr>
              <a:t>: before a hotspot overflows, nearby hotels bid for the surplus tourists within safe capacity, and credits keep the money in the local economy.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365760" y="2450592"/>
            <a:ext cx="2130552" cy="1188720"/>
          </a:xfrm>
          <a:prstGeom prst="roundRect">
            <a:avLst>
              <a:gd name="adj" fmla="val 12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66" name="Oval 15365"/>
          <p:cNvSpPr/>
          <p:nvPr/>
        </p:nvSpPr>
        <p:spPr>
          <a:xfrm>
            <a:off x="457200" y="2560320"/>
            <a:ext cx="457200" cy="45720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5367" name="Picture 15366" descr="whats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670048"/>
            <a:ext cx="237744" cy="237744"/>
          </a:xfrm>
          <a:prstGeom prst="rect">
            <a:avLst/>
          </a:prstGeom>
        </p:spPr>
      </p:pic>
      <p:sp>
        <p:nvSpPr>
          <p:cNvPr id="15368" name="TextBox 15367"/>
          <p:cNvSpPr txBox="1"/>
          <p:nvPr/>
        </p:nvSpPr>
        <p:spPr>
          <a:xfrm>
            <a:off x="969264" y="2560320"/>
            <a:ext cx="1472184" cy="45720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8B57"/>
                </a:solidFill>
                <a:latin typeface="Arial"/>
              </a:rPr>
              <a:t>1  AI Front Desk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457200" y="3072384"/>
            <a:ext cx="196596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2733"/>
                </a:solidFill>
                <a:latin typeface="Arial"/>
              </a:rPr>
              <a:t>Each hotel gets its own multilingual WhatsApp AI that answers, books &amp; upsells; no app</a:t>
            </a:r>
          </a:p>
        </p:txBody>
      </p:sp>
      <p:sp>
        <p:nvSpPr>
          <p:cNvPr id="15370" name="Right Arrow 15369"/>
          <p:cNvSpPr/>
          <p:nvPr/>
        </p:nvSpPr>
        <p:spPr>
          <a:xfrm>
            <a:off x="2523744" y="2907792"/>
            <a:ext cx="146304" cy="237744"/>
          </a:xfrm>
          <a:prstGeom prst="rightArrow">
            <a:avLst/>
          </a:prstGeom>
          <a:solidFill>
            <a:srgbClr val="C9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71" name="Rounded Rectangle 15370"/>
          <p:cNvSpPr/>
          <p:nvPr/>
        </p:nvSpPr>
        <p:spPr>
          <a:xfrm>
            <a:off x="2697480" y="2450592"/>
            <a:ext cx="2130552" cy="1188720"/>
          </a:xfrm>
          <a:prstGeom prst="roundRect">
            <a:avLst>
              <a:gd name="adj" fmla="val 12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72" name="Oval 15371"/>
          <p:cNvSpPr/>
          <p:nvPr/>
        </p:nvSpPr>
        <p:spPr>
          <a:xfrm>
            <a:off x="2788920" y="2560320"/>
            <a:ext cx="457200" cy="45720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5373" name="Picture 15372" descr="bal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648" y="2670048"/>
            <a:ext cx="237744" cy="237744"/>
          </a:xfrm>
          <a:prstGeom prst="rect">
            <a:avLst/>
          </a:prstGeom>
        </p:spPr>
      </p:pic>
      <p:sp>
        <p:nvSpPr>
          <p:cNvPr id="15374" name="TextBox 15373"/>
          <p:cNvSpPr txBox="1"/>
          <p:nvPr/>
        </p:nvSpPr>
        <p:spPr>
          <a:xfrm>
            <a:off x="3300984" y="2560320"/>
            <a:ext cx="1472184" cy="45720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E87722"/>
                </a:solidFill>
                <a:latin typeface="Arial"/>
              </a:rPr>
              <a:t>2  Demand Exchange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2788920" y="3072384"/>
            <a:ext cx="196596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2733"/>
                </a:solidFill>
                <a:latin typeface="Arial"/>
              </a:rPr>
              <a:t>Forecast overflow is offered to nearby hotels; they bid discounts in one tap</a:t>
            </a:r>
          </a:p>
        </p:txBody>
      </p:sp>
      <p:sp>
        <p:nvSpPr>
          <p:cNvPr id="15376" name="Right Arrow 15375"/>
          <p:cNvSpPr/>
          <p:nvPr/>
        </p:nvSpPr>
        <p:spPr>
          <a:xfrm>
            <a:off x="4855464" y="2907792"/>
            <a:ext cx="146304" cy="237744"/>
          </a:xfrm>
          <a:prstGeom prst="rightArrow">
            <a:avLst/>
          </a:prstGeom>
          <a:solidFill>
            <a:srgbClr val="C9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77" name="Rounded Rectangle 15376"/>
          <p:cNvSpPr/>
          <p:nvPr/>
        </p:nvSpPr>
        <p:spPr>
          <a:xfrm>
            <a:off x="5029200" y="2450592"/>
            <a:ext cx="2130552" cy="1188720"/>
          </a:xfrm>
          <a:prstGeom prst="roundRect">
            <a:avLst>
              <a:gd name="adj" fmla="val 12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78" name="Oval 15377"/>
          <p:cNvSpPr/>
          <p:nvPr/>
        </p:nvSpPr>
        <p:spPr>
          <a:xfrm>
            <a:off x="5120640" y="2560320"/>
            <a:ext cx="457200" cy="45720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5379" name="Picture 15378" descr="kava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0368" y="2670048"/>
            <a:ext cx="237744" cy="237744"/>
          </a:xfrm>
          <a:prstGeom prst="rect">
            <a:avLst/>
          </a:prstGeom>
        </p:spPr>
      </p:pic>
      <p:sp>
        <p:nvSpPr>
          <p:cNvPr id="15380" name="TextBox 15379"/>
          <p:cNvSpPr txBox="1"/>
          <p:nvPr/>
        </p:nvSpPr>
        <p:spPr>
          <a:xfrm>
            <a:off x="5632704" y="2560320"/>
            <a:ext cx="1472184" cy="45720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D64545"/>
                </a:solidFill>
                <a:latin typeface="Arial"/>
              </a:rPr>
              <a:t>3  Capacity Guard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5120640" y="3072384"/>
            <a:ext cx="196596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2733"/>
                </a:solidFill>
                <a:latin typeface="Arial"/>
              </a:rPr>
              <a:t>Live carrying-capacity index; no twin pushed above 80%, so no new hotspot</a:t>
            </a:r>
          </a:p>
        </p:txBody>
      </p:sp>
      <p:sp>
        <p:nvSpPr>
          <p:cNvPr id="15382" name="Right Arrow 15381"/>
          <p:cNvSpPr/>
          <p:nvPr/>
        </p:nvSpPr>
        <p:spPr>
          <a:xfrm>
            <a:off x="7187184" y="2907792"/>
            <a:ext cx="146304" cy="237744"/>
          </a:xfrm>
          <a:prstGeom prst="rightArrow">
            <a:avLst/>
          </a:prstGeom>
          <a:solidFill>
            <a:srgbClr val="C9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83" name="Rounded Rectangle 15382"/>
          <p:cNvSpPr/>
          <p:nvPr/>
        </p:nvSpPr>
        <p:spPr>
          <a:xfrm>
            <a:off x="7360920" y="2450592"/>
            <a:ext cx="2130552" cy="1188720"/>
          </a:xfrm>
          <a:prstGeom prst="roundRect">
            <a:avLst>
              <a:gd name="adj" fmla="val 12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84" name="Oval 15383"/>
          <p:cNvSpPr/>
          <p:nvPr/>
        </p:nvSpPr>
        <p:spPr>
          <a:xfrm>
            <a:off x="7452360" y="2560320"/>
            <a:ext cx="457200" cy="4572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5385" name="Picture 15384" descr="economi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2088" y="2670048"/>
            <a:ext cx="237744" cy="237744"/>
          </a:xfrm>
          <a:prstGeom prst="rect">
            <a:avLst/>
          </a:prstGeom>
        </p:spPr>
      </p:pic>
      <p:sp>
        <p:nvSpPr>
          <p:cNvPr id="15386" name="TextBox 15385"/>
          <p:cNvSpPr txBox="1"/>
          <p:nvPr/>
        </p:nvSpPr>
        <p:spPr>
          <a:xfrm>
            <a:off x="7964424" y="2560320"/>
            <a:ext cx="1472184" cy="45720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70C0"/>
                </a:solidFill>
                <a:latin typeface="Arial"/>
              </a:rPr>
              <a:t>4  Destination Wallet</a:t>
            </a:r>
          </a:p>
        </p:txBody>
      </p:sp>
      <p:sp>
        <p:nvSpPr>
          <p:cNvPr id="15387" name="TextBox 15386"/>
          <p:cNvSpPr txBox="1"/>
          <p:nvPr/>
        </p:nvSpPr>
        <p:spPr>
          <a:xfrm>
            <a:off x="7452360" y="3072384"/>
            <a:ext cx="196596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2733"/>
                </a:solidFill>
                <a:latin typeface="Arial"/>
              </a:rPr>
              <a:t>Green Travel Credits spendable only at local MSMEs; geo-fenced 2-way QR</a:t>
            </a:r>
          </a:p>
        </p:txBody>
      </p:sp>
      <p:sp>
        <p:nvSpPr>
          <p:cNvPr id="15388" name="Right Arrow 15387"/>
          <p:cNvSpPr/>
          <p:nvPr/>
        </p:nvSpPr>
        <p:spPr>
          <a:xfrm>
            <a:off x="9518904" y="2907792"/>
            <a:ext cx="146304" cy="237744"/>
          </a:xfrm>
          <a:prstGeom prst="rightArrow">
            <a:avLst/>
          </a:prstGeom>
          <a:solidFill>
            <a:srgbClr val="C9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89" name="Rounded Rectangle 15388"/>
          <p:cNvSpPr/>
          <p:nvPr/>
        </p:nvSpPr>
        <p:spPr>
          <a:xfrm>
            <a:off x="9692640" y="2450592"/>
            <a:ext cx="2130552" cy="1188720"/>
          </a:xfrm>
          <a:prstGeom prst="roundRect">
            <a:avLst>
              <a:gd name="adj" fmla="val 12000"/>
            </a:avLst>
          </a:prstGeom>
          <a:solidFill>
            <a:srgbClr val="F1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90" name="Oval 15389"/>
          <p:cNvSpPr/>
          <p:nvPr/>
        </p:nvSpPr>
        <p:spPr>
          <a:xfrm>
            <a:off x="9784080" y="2560320"/>
            <a:ext cx="457200" cy="457200"/>
          </a:xfrm>
          <a:prstGeom prst="ellipse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5391" name="Picture 15390" descr="sto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3808" y="2670048"/>
            <a:ext cx="237744" cy="237744"/>
          </a:xfrm>
          <a:prstGeom prst="rect">
            <a:avLst/>
          </a:prstGeom>
        </p:spPr>
      </p:pic>
      <p:sp>
        <p:nvSpPr>
          <p:cNvPr id="15392" name="TextBox 15391"/>
          <p:cNvSpPr txBox="1"/>
          <p:nvPr/>
        </p:nvSpPr>
        <p:spPr>
          <a:xfrm>
            <a:off x="10296144" y="2560320"/>
            <a:ext cx="1472184" cy="45720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6A3D9A"/>
                </a:solidFill>
                <a:latin typeface="Arial"/>
              </a:rPr>
              <a:t>5  Micro-Package Composer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9784080" y="3072384"/>
            <a:ext cx="196596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2733"/>
                </a:solidFill>
                <a:latin typeface="Arial"/>
              </a:rPr>
              <a:t>AI bundles homestay + guide + artisan + cab into one booking; auto UPI split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365760" y="3931920"/>
            <a:ext cx="5614416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411480" y="4315968"/>
            <a:ext cx="5568696" cy="2011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600"/>
              </a:spcAft>
              <a:buClr>
                <a:srgbClr val="E87722"/>
              </a:buClr>
              <a:buFont typeface="Arial"/>
              <a:buChar char="•"/>
            </a:pPr>
            <a:r>
              <a:rPr sz="1200" b="1" i="0">
                <a:solidFill>
                  <a:srgbClr val="D64545"/>
                </a:solidFill>
                <a:latin typeface="Arial"/>
              </a:rPr>
              <a:t>Overcrowded hotspots</a:t>
            </a:r>
            <a:r>
              <a:rPr sz="1200" b="0" i="0">
                <a:solidFill>
                  <a:srgbClr val="596572"/>
                </a:solidFill>
                <a:latin typeface="Arial"/>
              </a:rPr>
              <a:t>  → 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overflow auctioned to nearby hotels in advance</a:t>
            </a:r>
          </a:p>
          <a:p>
            <a:pPr algn="l" marL="155448" indent="-155448">
              <a:spcAft>
                <a:spcPts val="600"/>
              </a:spcAft>
              <a:buClr>
                <a:srgbClr val="E87722"/>
              </a:buClr>
              <a:buFont typeface="Arial"/>
              <a:buChar char="•"/>
            </a:pPr>
            <a:r>
              <a:rPr sz="1200" b="1" i="0">
                <a:solidFill>
                  <a:srgbClr val="D64545"/>
                </a:solidFill>
                <a:latin typeface="Arial"/>
              </a:rPr>
              <a:t>15–30% OTA commissions</a:t>
            </a:r>
            <a:r>
              <a:rPr sz="1200" b="0" i="0">
                <a:solidFill>
                  <a:srgbClr val="596572"/>
                </a:solidFill>
                <a:latin typeface="Arial"/>
              </a:rPr>
              <a:t>  → 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direct bookings via the hotel's own AI WhatsApp</a:t>
            </a:r>
          </a:p>
          <a:p>
            <a:pPr algn="l" marL="155448" indent="-155448">
              <a:spcAft>
                <a:spcPts val="600"/>
              </a:spcAft>
              <a:buClr>
                <a:srgbClr val="E87722"/>
              </a:buClr>
              <a:buFont typeface="Arial"/>
              <a:buChar char="•"/>
            </a:pPr>
            <a:r>
              <a:rPr sz="1200" b="1" i="0">
                <a:solidFill>
                  <a:srgbClr val="D64545"/>
                </a:solidFill>
                <a:latin typeface="Arial"/>
              </a:rPr>
              <a:t>No live crowd data</a:t>
            </a:r>
            <a:r>
              <a:rPr sz="1200" b="0" i="0">
                <a:solidFill>
                  <a:srgbClr val="596572"/>
                </a:solidFill>
                <a:latin typeface="Arial"/>
              </a:rPr>
              <a:t>  → 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1-tap WhatsApp pulses from hotels &amp; vendors</a:t>
            </a:r>
          </a:p>
          <a:p>
            <a:pPr algn="l" marL="155448" indent="-155448">
              <a:spcAft>
                <a:spcPts val="600"/>
              </a:spcAft>
              <a:buClr>
                <a:srgbClr val="E87722"/>
              </a:buClr>
              <a:buFont typeface="Arial"/>
              <a:buChar char="•"/>
            </a:pPr>
            <a:r>
              <a:rPr sz="1200" b="1" i="0">
                <a:solidFill>
                  <a:srgbClr val="D64545"/>
                </a:solidFill>
                <a:latin typeface="Arial"/>
              </a:rPr>
              <a:t>Invisible artisans &amp; homestays</a:t>
            </a:r>
            <a:r>
              <a:rPr sz="1200" b="0" i="0">
                <a:solidFill>
                  <a:srgbClr val="596572"/>
                </a:solidFill>
                <a:latin typeface="Arial"/>
              </a:rPr>
              <a:t>  → 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bundled into AI micro-packages</a:t>
            </a:r>
          </a:p>
          <a:p>
            <a:pPr algn="l" marL="155448" indent="-155448">
              <a:spcAft>
                <a:spcPts val="600"/>
              </a:spcAft>
              <a:buClr>
                <a:srgbClr val="E87722"/>
              </a:buClr>
              <a:buFont typeface="Arial"/>
              <a:buChar char="•"/>
            </a:pPr>
            <a:r>
              <a:rPr sz="1200" b="1" i="0">
                <a:solidFill>
                  <a:srgbClr val="D64545"/>
                </a:solidFill>
                <a:latin typeface="Arial"/>
              </a:rPr>
              <a:t>Tourist money leaks out</a:t>
            </a:r>
            <a:r>
              <a:rPr sz="1200" b="0" i="0">
                <a:solidFill>
                  <a:srgbClr val="596572"/>
                </a:solidFill>
                <a:latin typeface="Arial"/>
              </a:rPr>
              <a:t>  → 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credits recirculate inside the destination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6208776" y="3931920"/>
            <a:ext cx="5614416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397" name="TextBox 15396"/>
          <p:cNvSpPr txBox="1"/>
          <p:nvPr/>
        </p:nvSpPr>
        <p:spPr>
          <a:xfrm>
            <a:off x="6254496" y="4315968"/>
            <a:ext cx="5568696" cy="2011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600"/>
              </a:spcAft>
              <a:buClr>
                <a:srgbClr val="2E8B57"/>
              </a:buClr>
              <a:buFont typeface="Arial"/>
              <a:buChar char="•"/>
            </a:pPr>
            <a:r>
              <a:rPr sz="1200" b="1" i="0">
                <a:solidFill>
                  <a:srgbClr val="1F3864"/>
                </a:solidFill>
                <a:latin typeface="Arial"/>
              </a:rPr>
              <a:t>Self-funding crowd balancing: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hotels bid for diverted tourists</a:t>
            </a:r>
          </a:p>
          <a:p>
            <a:pPr algn="l" marL="155448" indent="-155448">
              <a:spcAft>
                <a:spcPts val="600"/>
              </a:spcAft>
              <a:buClr>
                <a:srgbClr val="2E8B57"/>
              </a:buClr>
              <a:buFont typeface="Arial"/>
              <a:buChar char="•"/>
            </a:pPr>
            <a:r>
              <a:rPr sz="1200" b="1" i="0">
                <a:solidFill>
                  <a:srgbClr val="1F3864"/>
                </a:solidFill>
                <a:latin typeface="Arial"/>
              </a:rPr>
              <a:t>Hotel-in-a-WhatsApp: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multi-tenant AI front desk, already prototyped</a:t>
            </a:r>
          </a:p>
          <a:p>
            <a:pPr algn="l" marL="155448" indent="-155448">
              <a:spcAft>
                <a:spcPts val="600"/>
              </a:spcAft>
              <a:buClr>
                <a:srgbClr val="2E8B57"/>
              </a:buClr>
              <a:buFont typeface="Arial"/>
              <a:buChar char="•"/>
            </a:pPr>
            <a:r>
              <a:rPr sz="1200" b="1" i="0">
                <a:solidFill>
                  <a:srgbClr val="1F3864"/>
                </a:solidFill>
                <a:latin typeface="Arial"/>
              </a:rPr>
              <a:t>Human sensor network: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MSME pulses replace tourist tracking</a:t>
            </a:r>
          </a:p>
          <a:p>
            <a:pPr algn="l" marL="155448" indent="-155448">
              <a:spcAft>
                <a:spcPts val="600"/>
              </a:spcAft>
              <a:buClr>
                <a:srgbClr val="2E8B57"/>
              </a:buClr>
              <a:buFont typeface="Arial"/>
              <a:buChar char="•"/>
            </a:pPr>
            <a:r>
              <a:rPr sz="1200" b="1" i="0">
                <a:solidFill>
                  <a:srgbClr val="1F3864"/>
                </a:solidFill>
                <a:latin typeface="Arial"/>
              </a:rPr>
              <a:t>Closed-loop local money: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credits spendable only in the destination</a:t>
            </a:r>
          </a:p>
          <a:p>
            <a:pPr algn="l" marL="155448" indent="-155448">
              <a:spcAft>
                <a:spcPts val="600"/>
              </a:spcAft>
              <a:buClr>
                <a:srgbClr val="2E8B57"/>
              </a:buClr>
              <a:buFont typeface="Arial"/>
              <a:buChar char="•"/>
            </a:pPr>
            <a:r>
              <a:rPr sz="1200" b="1" i="0">
                <a:solidFill>
                  <a:srgbClr val="1F3864"/>
                </a:solidFill>
                <a:latin typeface="Arial"/>
              </a:rPr>
              <a:t>No overflow cascade: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capacity guard keeps every twin under 80%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b="1" sz="1100"/>
              <a:t>YatraDrishti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65760" y="1188720"/>
            <a:ext cx="4160520" cy="56692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65760" y="1847088"/>
          <a:ext cx="416052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3063240"/>
              </a:tblGrid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React Native / Flutter · Next.js dashboard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Backend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FastAPI (Python) · Node.js (TypeScript) gateway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WhatsApp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Multi-tenant Baileys AI gateway </a:t>
                      </a:r>
                      <a:r>
                        <a:rPr sz="1000" b="1" i="0">
                          <a:solidFill>
                            <a:srgbClr val="2E8B57"/>
                          </a:solidFill>
                          <a:latin typeface="Arial"/>
                        </a:rPr>
                        <a:t>(already built)</a:t>
                      </a: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 → per-hotel AI desk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AI / ML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XGBoost + Prophet · LangChain + Llama-3 / Gemini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Matching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OR-Tools: bid matching under capacity limits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PostgreSQL + PostGIS · Redis · H3 · Docker / K8s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Payments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UPI split settlement (Razorpay Route, test mode)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Tourist UX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AR (ARCore / ARKit) · TensorFlow Lite offline guide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Hardware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None: runs on any smartphone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2" name="Rounded Rectangle 17411"/>
          <p:cNvSpPr/>
          <p:nvPr/>
        </p:nvSpPr>
        <p:spPr>
          <a:xfrm>
            <a:off x="4754880" y="1188720"/>
            <a:ext cx="7068312" cy="56692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754880" y="1856231"/>
            <a:ext cx="1340510" cy="329184"/>
          </a:xfrm>
          <a:prstGeom prst="roundRect">
            <a:avLst>
              <a:gd name="adj" fmla="val 30000"/>
            </a:avLst>
          </a:prstGeom>
          <a:solidFill>
            <a:srgbClr val="F3F5F8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Bookings / iCal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86830" y="1856231"/>
            <a:ext cx="1340510" cy="329184"/>
          </a:xfrm>
          <a:prstGeom prst="roundRect">
            <a:avLst>
              <a:gd name="adj" fmla="val 30000"/>
            </a:avLst>
          </a:prstGeom>
          <a:solidFill>
            <a:srgbClr val="F3F5F8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MSME WhatsApp pulses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618780" y="1856231"/>
            <a:ext cx="1340510" cy="329184"/>
          </a:xfrm>
          <a:prstGeom prst="roundRect">
            <a:avLst>
              <a:gd name="adj" fmla="val 30000"/>
            </a:avLst>
          </a:prstGeom>
          <a:solidFill>
            <a:srgbClr val="F3F5F8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Weather API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9050731" y="1856231"/>
            <a:ext cx="1340510" cy="329184"/>
          </a:xfrm>
          <a:prstGeom prst="roundRect">
            <a:avLst>
              <a:gd name="adj" fmla="val 30000"/>
            </a:avLst>
          </a:prstGeom>
          <a:solidFill>
            <a:srgbClr val="F3F5F8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Footfall data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10482681" y="1856231"/>
            <a:ext cx="1340510" cy="329184"/>
          </a:xfrm>
          <a:prstGeom prst="roundRect">
            <a:avLst>
              <a:gd name="adj" fmla="val 30000"/>
            </a:avLst>
          </a:prstGeom>
          <a:solidFill>
            <a:srgbClr val="F3F5F8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Events &amp; holidays</a:t>
            </a:r>
          </a:p>
        </p:txBody>
      </p:sp>
      <p:sp>
        <p:nvSpPr>
          <p:cNvPr id="17418" name="Down Arrow 17417"/>
          <p:cNvSpPr/>
          <p:nvPr/>
        </p:nvSpPr>
        <p:spPr>
          <a:xfrm>
            <a:off x="8170164" y="2212848"/>
            <a:ext cx="237744" cy="219456"/>
          </a:xfrm>
          <a:prstGeom prst="downArrow">
            <a:avLst/>
          </a:prstGeom>
          <a:solidFill>
            <a:srgbClr val="59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4754880" y="2468880"/>
            <a:ext cx="1575054" cy="658368"/>
          </a:xfrm>
          <a:prstGeom prst="roundRect">
            <a:avLst>
              <a:gd name="adj" fmla="val 15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1  Ingest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FastAPI · PostGIS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6366510" y="2679192"/>
            <a:ext cx="182880" cy="237744"/>
          </a:xfrm>
          <a:prstGeom prst="rightArrow">
            <a:avLst/>
          </a:prstGeom>
          <a:solidFill>
            <a:srgbClr val="59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6585966" y="2468880"/>
            <a:ext cx="1575054" cy="658368"/>
          </a:xfrm>
          <a:prstGeom prst="roundRect">
            <a:avLst>
              <a:gd name="adj" fmla="val 15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2  Forecast demand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Prophet + XGBoost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8197596" y="2679192"/>
            <a:ext cx="182880" cy="237744"/>
          </a:xfrm>
          <a:prstGeom prst="rightArrow">
            <a:avLst/>
          </a:prstGeom>
          <a:solidFill>
            <a:srgbClr val="59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8417052" y="2468880"/>
            <a:ext cx="1575054" cy="658368"/>
          </a:xfrm>
          <a:prstGeom prst="roundRect">
            <a:avLst>
              <a:gd name="adj" fmla="val 15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3  Capacity guard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live index per site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10028682" y="2679192"/>
            <a:ext cx="182880" cy="237744"/>
          </a:xfrm>
          <a:prstGeom prst="rightArrow">
            <a:avLst/>
          </a:prstGeom>
          <a:solidFill>
            <a:srgbClr val="59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10248138" y="2468880"/>
            <a:ext cx="1575054" cy="658368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4  Overflow ahead?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demand &gt; 80% capacity</a:t>
            </a:r>
          </a:p>
        </p:txBody>
      </p:sp>
      <p:sp>
        <p:nvSpPr>
          <p:cNvPr id="17426" name="Down Arrow 17425"/>
          <p:cNvSpPr/>
          <p:nvPr/>
        </p:nvSpPr>
        <p:spPr>
          <a:xfrm>
            <a:off x="10916793" y="3154680"/>
            <a:ext cx="237744" cy="237744"/>
          </a:xfrm>
          <a:prstGeom prst="downArrow">
            <a:avLst/>
          </a:prstGeom>
          <a:solidFill>
            <a:srgbClr val="59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9973818" y="3438144"/>
            <a:ext cx="1849374" cy="658368"/>
          </a:xfrm>
          <a:prstGeom prst="roundRect">
            <a:avLst>
              <a:gd name="adj" fmla="val 15000"/>
            </a:avLst>
          </a:prstGeom>
          <a:solidFill>
            <a:srgbClr val="FDF0E2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D64545"/>
                </a:solidFill>
                <a:latin typeface="Arial"/>
              </a:rPr>
              <a:t>YES: overflow</a:t>
            </a:r>
          </a:p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C2733"/>
                </a:solidFill>
                <a:latin typeface="Arial"/>
              </a:rPr>
              <a:t>NO → normal plan &amp; pricing</a:t>
            </a:r>
          </a:p>
        </p:txBody>
      </p:sp>
      <p:sp>
        <p:nvSpPr>
          <p:cNvPr id="17428" name="Left Arrow 17427"/>
          <p:cNvSpPr/>
          <p:nvPr/>
        </p:nvSpPr>
        <p:spPr>
          <a:xfrm>
            <a:off x="9681210" y="3648456"/>
            <a:ext cx="256032" cy="237744"/>
          </a:xfrm>
          <a:prstGeom prst="leftArrow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4754880" y="3438144"/>
            <a:ext cx="4889754" cy="658368"/>
          </a:xfrm>
          <a:prstGeom prst="roundRect">
            <a:avLst>
              <a:gd name="adj" fmla="val 15000"/>
            </a:avLst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 wrap="square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5  Demand Exchange: surplus offered to nearby hotels on WhatsApp → best bids within capacity → tourist gets twin + credits</a:t>
            </a:r>
          </a:p>
        </p:txBody>
      </p:sp>
      <p:sp>
        <p:nvSpPr>
          <p:cNvPr id="17430" name="Down Arrow 17429"/>
          <p:cNvSpPr/>
          <p:nvPr/>
        </p:nvSpPr>
        <p:spPr>
          <a:xfrm>
            <a:off x="6734556" y="4133087"/>
            <a:ext cx="237744" cy="219456"/>
          </a:xfrm>
          <a:prstGeom prst="downArrow">
            <a:avLst/>
          </a:prstGeom>
          <a:solidFill>
            <a:srgbClr val="59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4754880" y="4389120"/>
            <a:ext cx="2264664" cy="548640"/>
          </a:xfrm>
          <a:prstGeom prst="roundRect">
            <a:avLst>
              <a:gd name="adj" fmla="val 15000"/>
            </a:avLst>
          </a:prstGeom>
          <a:solidFill>
            <a:srgbClr val="E6F4E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E8B57"/>
                </a:solidFill>
                <a:latin typeface="Arial"/>
              </a:rPr>
              <a:t>Tourist app / WhatsApp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itinerary · packages · credits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156704" y="4389120"/>
            <a:ext cx="2264664" cy="548640"/>
          </a:xfrm>
          <a:prstGeom prst="roundRect">
            <a:avLst>
              <a:gd name="adj" fmla="val 15000"/>
            </a:avLst>
          </a:prstGeom>
          <a:solidFill>
            <a:srgbClr val="E6F4E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E8B57"/>
                </a:solidFill>
                <a:latin typeface="Arial"/>
              </a:rPr>
              <a:t>Hotel AI front desk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bids · bookings · rate tips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558528" y="4389120"/>
            <a:ext cx="2264664" cy="548640"/>
          </a:xfrm>
          <a:prstGeom prst="roundRect">
            <a:avLst>
              <a:gd name="adj" fmla="val 15000"/>
            </a:avLst>
          </a:prstGeom>
          <a:solidFill>
            <a:srgbClr val="E6F4E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E8B57"/>
                </a:solidFill>
                <a:latin typeface="Arial"/>
              </a:rPr>
              <a:t>Govt analytics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footfall heatmap · policy switch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4754880" y="5047488"/>
            <a:ext cx="7068312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F3864"/>
                </a:solidFill>
                <a:latin typeface="Arial"/>
              </a:rPr>
              <a:t>36-hour prototype plan (1 pilot circuit, public + synthetic data)</a:t>
            </a:r>
          </a:p>
        </p:txBody>
      </p:sp>
      <p:sp>
        <p:nvSpPr>
          <p:cNvPr id="17435" name="Pentagon 17434"/>
          <p:cNvSpPr/>
          <p:nvPr/>
        </p:nvSpPr>
        <p:spPr>
          <a:xfrm>
            <a:off x="4754880" y="5340096"/>
            <a:ext cx="1472184" cy="530352"/>
          </a:xfrm>
          <a:prstGeom prst="homePlat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0–6 h  Data &amp; schema</a:t>
            </a:r>
          </a:p>
        </p:txBody>
      </p:sp>
      <p:sp>
        <p:nvSpPr>
          <p:cNvPr id="17436" name="Chevron 17435"/>
          <p:cNvSpPr/>
          <p:nvPr/>
        </p:nvSpPr>
        <p:spPr>
          <a:xfrm>
            <a:off x="6153912" y="5340096"/>
            <a:ext cx="1472184" cy="530352"/>
          </a:xfrm>
          <a:prstGeom prst="chevron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6–14 h  Forecast &amp; capacity</a:t>
            </a:r>
          </a:p>
        </p:txBody>
      </p:sp>
      <p:sp>
        <p:nvSpPr>
          <p:cNvPr id="17437" name="Chevron 17436"/>
          <p:cNvSpPr/>
          <p:nvPr/>
        </p:nvSpPr>
        <p:spPr>
          <a:xfrm>
            <a:off x="7552944" y="5340096"/>
            <a:ext cx="1472184" cy="530352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14–22 h  Demand Exchange</a:t>
            </a:r>
          </a:p>
        </p:txBody>
      </p:sp>
      <p:sp>
        <p:nvSpPr>
          <p:cNvPr id="17438" name="Chevron 17437"/>
          <p:cNvSpPr/>
          <p:nvPr/>
        </p:nvSpPr>
        <p:spPr>
          <a:xfrm>
            <a:off x="8951976" y="5340096"/>
            <a:ext cx="1472184" cy="530352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22–30 h  AI desk &amp; wallet</a:t>
            </a:r>
          </a:p>
        </p:txBody>
      </p:sp>
      <p:sp>
        <p:nvSpPr>
          <p:cNvPr id="17439" name="Chevron 17438"/>
          <p:cNvSpPr/>
          <p:nvPr/>
        </p:nvSpPr>
        <p:spPr>
          <a:xfrm>
            <a:off x="10351008" y="5340096"/>
            <a:ext cx="1472184" cy="530352"/>
          </a:xfrm>
          <a:prstGeom prst="chevron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30–36 h  Test &amp; demo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365760" y="5943600"/>
            <a:ext cx="11430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D64545"/>
                </a:solidFill>
                <a:latin typeface="Arial"/>
              </a:rPr>
              <a:t>Emergency policy switch: </a:t>
            </a:r>
            <a:r>
              <a:rPr sz="1000" b="0" i="0">
                <a:solidFill>
                  <a:srgbClr val="596572"/>
                </a:solidFill>
                <a:latin typeface="Arial"/>
              </a:rPr>
              <a:t>one admin flag freezes discounts and reroutes tourists during flood / weather alerts (can be shown live to judges).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b="1" sz="1100"/>
              <a:t>YatraDrishti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65760" y="1188720"/>
            <a:ext cx="11457432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09344"/>
            <a:ext cx="2727198" cy="1261872"/>
          </a:xfrm>
          <a:prstGeom prst="roundRect">
            <a:avLst>
              <a:gd name="adj" fmla="val 10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12" name="Oval 17411"/>
          <p:cNvSpPr/>
          <p:nvPr/>
        </p:nvSpPr>
        <p:spPr>
          <a:xfrm>
            <a:off x="475488" y="1682496"/>
            <a:ext cx="402336" cy="402336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13" name="Picture 17412" descr="whats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048" y="1779056"/>
            <a:ext cx="209214" cy="209214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950976" y="1682496"/>
            <a:ext cx="2068830" cy="40233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8B57"/>
                </a:solidFill>
                <a:latin typeface="Arial"/>
              </a:rPr>
              <a:t>Technical ✔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75488" y="2157984"/>
            <a:ext cx="2544318" cy="7132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200"/>
              </a:spcAft>
              <a:buClr>
                <a:srgbClr val="2E8B57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WhatsApp AI gateway already works</a:t>
            </a:r>
          </a:p>
          <a:p>
            <a:pPr algn="l" marL="155448" indent="-155448">
              <a:spcAft>
                <a:spcPts val="200"/>
              </a:spcAft>
              <a:buClr>
                <a:srgbClr val="2E8B57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Per-hotel AI desk = new tenant config, not new code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75838" y="1609344"/>
            <a:ext cx="2727198" cy="1261872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17" name="Oval 17416"/>
          <p:cNvSpPr/>
          <p:nvPr/>
        </p:nvSpPr>
        <p:spPr>
          <a:xfrm>
            <a:off x="3385566" y="1682496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18" name="Picture 17417" descr="da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2126" y="1779056"/>
            <a:ext cx="209214" cy="209214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3861054" y="1682496"/>
            <a:ext cx="2068830" cy="40233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Data &amp; APIs ✔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385566" y="2157984"/>
            <a:ext cx="2544318" cy="7132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200"/>
              </a:spcAft>
              <a:buClr>
                <a:srgbClr val="1F3864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data.tourism.gov.in, OSM, weather, Kaggle hotel data</a:t>
            </a:r>
          </a:p>
          <a:p>
            <a:pPr algn="l" marL="155448" indent="-155448">
              <a:spcAft>
                <a:spcPts val="200"/>
              </a:spcAft>
              <a:buClr>
                <a:srgbClr val="1F3864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Backup: synthetic footfall + 50 hotels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185916" y="1609344"/>
            <a:ext cx="2727198" cy="1261872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2" name="Oval 17421"/>
          <p:cNvSpPr/>
          <p:nvPr/>
        </p:nvSpPr>
        <p:spPr>
          <a:xfrm>
            <a:off x="6295644" y="1682496"/>
            <a:ext cx="402336" cy="40233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23" name="Picture 17422" descr="econom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2204" y="1779056"/>
            <a:ext cx="209214" cy="209214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6771132" y="1682496"/>
            <a:ext cx="2068830" cy="40233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Economic ✔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295644" y="2157984"/>
            <a:ext cx="2544318" cy="7132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Hotel SaaS ≈ ₹1,250–4,200 / month</a:t>
            </a:r>
          </a:p>
          <a:p>
            <a:pPr algn="l" marL="155448" indent="-155448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Small fee on Exchange wins &amp; packages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9095994" y="1609344"/>
            <a:ext cx="2727198" cy="1261872"/>
          </a:xfrm>
          <a:prstGeom prst="roundRect">
            <a:avLst>
              <a:gd name="adj" fmla="val 10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7" name="Oval 17426"/>
          <p:cNvSpPr/>
          <p:nvPr/>
        </p:nvSpPr>
        <p:spPr>
          <a:xfrm>
            <a:off x="9205722" y="1682496"/>
            <a:ext cx="402336" cy="402336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28" name="Picture 17427" descr="op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2282" y="1779056"/>
            <a:ext cx="209214" cy="209214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9681210" y="1682496"/>
            <a:ext cx="2068830" cy="40233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7722"/>
                </a:solidFill>
                <a:latin typeface="Arial"/>
              </a:rPr>
              <a:t>Operational ✔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9205722" y="2157984"/>
            <a:ext cx="2544318" cy="7132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2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Nothing to install: hotels use WhatsApp</a:t>
            </a:r>
          </a:p>
          <a:p>
            <a:pPr algn="l" marL="155448" indent="-155448">
              <a:spcAft>
                <a:spcPts val="2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Fits existing PMS via iCal</a:t>
            </a:r>
          </a:p>
        </p:txBody>
      </p:sp>
      <p:sp>
        <p:nvSpPr>
          <p:cNvPr id="17431" name="Pentagon 17430"/>
          <p:cNvSpPr/>
          <p:nvPr/>
        </p:nvSpPr>
        <p:spPr>
          <a:xfrm>
            <a:off x="365760" y="2971800"/>
            <a:ext cx="2932938" cy="512064"/>
          </a:xfrm>
          <a:prstGeom prst="homePlat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1:  </a:t>
            </a:r>
            <a:r>
              <a:rPr sz="1000" b="0" i="0">
                <a:solidFill>
                  <a:srgbClr val="FFFFFF"/>
                </a:solidFill>
                <a:latin typeface="Arial"/>
              </a:rPr>
              <a:t>Pilot: Golden Triangle, Puducherry, Himachal</a:t>
            </a:r>
          </a:p>
        </p:txBody>
      </p:sp>
      <p:sp>
        <p:nvSpPr>
          <p:cNvPr id="17432" name="Chevron 17431"/>
          <p:cNvSpPr/>
          <p:nvPr/>
        </p:nvSpPr>
        <p:spPr>
          <a:xfrm>
            <a:off x="3207258" y="2971800"/>
            <a:ext cx="2932938" cy="512064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2:  </a:t>
            </a:r>
            <a:r>
              <a:rPr sz="1000" b="0" i="0">
                <a:solidFill>
                  <a:srgbClr val="FFFFFF"/>
                </a:solidFill>
                <a:latin typeface="Arial"/>
              </a:rPr>
              <a:t>State Tourism Dev. Corporations</a:t>
            </a:r>
          </a:p>
        </p:txBody>
      </p:sp>
      <p:sp>
        <p:nvSpPr>
          <p:cNvPr id="17433" name="Chevron 17432"/>
          <p:cNvSpPr/>
          <p:nvPr/>
        </p:nvSpPr>
        <p:spPr>
          <a:xfrm>
            <a:off x="6048756" y="2971800"/>
            <a:ext cx="2932938" cy="512064"/>
          </a:xfrm>
          <a:prstGeom prst="chevron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3:  </a:t>
            </a:r>
            <a:r>
              <a:rPr sz="1000" b="0" i="0">
                <a:solidFill>
                  <a:srgbClr val="FFFFFF"/>
                </a:solidFill>
                <a:latin typeface="Arial"/>
              </a:rPr>
              <a:t>Hotel associations &amp; homestay networks</a:t>
            </a:r>
          </a:p>
        </p:txBody>
      </p:sp>
      <p:sp>
        <p:nvSpPr>
          <p:cNvPr id="17434" name="Chevron 17433"/>
          <p:cNvSpPr/>
          <p:nvPr/>
        </p:nvSpPr>
        <p:spPr>
          <a:xfrm>
            <a:off x="8890254" y="2971800"/>
            <a:ext cx="2932938" cy="512064"/>
          </a:xfrm>
          <a:prstGeom prst="chevron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National:  </a:t>
            </a:r>
            <a:r>
              <a:rPr sz="1000" b="0" i="0">
                <a:solidFill>
                  <a:srgbClr val="FFFFFF"/>
                </a:solidFill>
                <a:latin typeface="Arial"/>
              </a:rPr>
              <a:t>Incredible India integration</a:t>
            </a:r>
          </a:p>
        </p:txBody>
      </p:sp>
      <p:graphicFrame>
        <p:nvGraphicFramePr>
          <p:cNvPr id="17435" name="Table 17434"/>
          <p:cNvGraphicFramePr>
            <a:graphicFrameLocks noGrp="1"/>
          </p:cNvGraphicFramePr>
          <p:nvPr/>
        </p:nvGraphicFramePr>
        <p:xfrm>
          <a:off x="365760" y="3593592"/>
          <a:ext cx="11457432" cy="25968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66160"/>
                <a:gridCol w="7891272"/>
              </a:tblGrid>
              <a:tr h="32461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Potential challenges and risks</a:t>
                      </a:r>
                    </a:p>
                  </a:txBody>
                  <a:tcPr marL="73152" marR="73152" marT="27432" marB="27432" anchor="ctr">
                    <a:solidFill>
                      <a:srgbClr val="D64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Strategies for overcoming these challenges</a:t>
                      </a:r>
                    </a:p>
                  </a:txBody>
                  <a:tcPr marL="73152" marR="73152" marT="27432" marB="27432" anchor="ctr">
                    <a:solidFill>
                      <a:srgbClr val="2E8B57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D64545"/>
                          </a:solidFill>
                          <a:latin typeface="Arial"/>
                        </a:rPr>
                        <a:t>WhatsApp session keys exposed in code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Revoke linked device, purge .baileys_auth from git, secrets in environment variables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D64545"/>
                          </a:solidFill>
                          <a:latin typeface="Arial"/>
                        </a:rPr>
                        <a:t>Sessions lost on every restart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Database-backed auth store (PostgreSQL / Redis) with caching &amp; safe key serialisation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D64545"/>
                          </a:solidFill>
                          <a:latin typeface="Arial"/>
                        </a:rPr>
                        <a:t>WhatsApp rate limits / number ban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Queue, rate limiter, randomised delays; official WhatsApp Business API in production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D64545"/>
                          </a:solidFill>
                          <a:latin typeface="Arial"/>
                        </a:rPr>
                        <a:t>Cross-tenant data leakage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Per-tenant session factory + JWT tenant binding on every endpoint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D64545"/>
                          </a:solidFill>
                          <a:latin typeface="Arial"/>
                        </a:rPr>
                        <a:t>Hotels game the Demand Exchange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Bids checked against live inventory, discount caps, hotel reputation 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D64545"/>
                          </a:solidFill>
                          <a:latin typeface="Arial"/>
                        </a:rPr>
                        <a:t>Fake credit redemptions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Two-way geo-fenced QR: tourist and vendor must be within 50 m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D64545"/>
                          </a:solidFill>
                          <a:latin typeface="Arial"/>
                        </a:rPr>
                        <a:t>No live crowd data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MSME WhatsApp pulses + anonymised H3 counts; synthetic data as backup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b="1" sz="1100"/>
              <a:t>YatraDrishti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65760" y="1188720"/>
            <a:ext cx="11457432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09344"/>
            <a:ext cx="2727198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12" name="Oval 17411"/>
          <p:cNvSpPr/>
          <p:nvPr/>
        </p:nvSpPr>
        <p:spPr>
          <a:xfrm>
            <a:off x="475488" y="1700784"/>
            <a:ext cx="438912" cy="438912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13" name="Picture 17412" descr="trave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26" y="1806122"/>
            <a:ext cx="228234" cy="228234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987552" y="1700784"/>
            <a:ext cx="2041398" cy="438912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Tourists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75488" y="2157984"/>
            <a:ext cx="2544318" cy="34747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3864"/>
                </a:solidFill>
                <a:latin typeface="Arial"/>
              </a:rPr>
              <a:t>20–35%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75488" y="2505456"/>
            <a:ext cx="2544318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596572"/>
                </a:solidFill>
                <a:latin typeface="Arial"/>
              </a:rPr>
              <a:t>savings on off-peak routes*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75488" y="2761488"/>
            <a:ext cx="2544318" cy="6583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Less crowded trips</a:t>
            </a:r>
          </a:p>
          <a:p>
            <a:pPr algn="l" marL="155448" indent="-155448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Credits for off-peak choices</a:t>
            </a:r>
          </a:p>
          <a:p>
            <a:pPr algn="l" marL="155448" indent="-155448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One-booking local packages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75838" y="1609344"/>
            <a:ext cx="2727198" cy="1828800"/>
          </a:xfrm>
          <a:prstGeom prst="roundRect">
            <a:avLst>
              <a:gd name="adj" fmla="val 8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19" name="Oval 17418"/>
          <p:cNvSpPr/>
          <p:nvPr/>
        </p:nvSpPr>
        <p:spPr>
          <a:xfrm>
            <a:off x="3385566" y="1700784"/>
            <a:ext cx="438912" cy="438912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20" name="Picture 17419" descr="hot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0904" y="1806122"/>
            <a:ext cx="228234" cy="228234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3897630" y="1700784"/>
            <a:ext cx="2041398" cy="438912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7722"/>
                </a:solidFill>
                <a:latin typeface="Arial"/>
              </a:rPr>
              <a:t>Small hotels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385566" y="2157984"/>
            <a:ext cx="2544318" cy="34747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3864"/>
                </a:solidFill>
                <a:latin typeface="Arial"/>
              </a:rPr>
              <a:t>+22–30%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385566" y="2505456"/>
            <a:ext cx="2544318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596572"/>
                </a:solidFill>
                <a:latin typeface="Arial"/>
              </a:rPr>
              <a:t>low-season yield*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385566" y="2761488"/>
            <a:ext cx="2544318" cy="6583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2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Own AI desk, no OTA cut</a:t>
            </a:r>
          </a:p>
          <a:p>
            <a:pPr algn="l" marL="155448" indent="-155448">
              <a:spcAft>
                <a:spcPts val="2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Win overflow guests by bidding</a:t>
            </a:r>
          </a:p>
          <a:p>
            <a:pPr algn="l" marL="155448" indent="-155448">
              <a:spcAft>
                <a:spcPts val="2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AI rate tips on WhatsApp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185916" y="1609344"/>
            <a:ext cx="2727198" cy="1828800"/>
          </a:xfrm>
          <a:prstGeom prst="roundRect">
            <a:avLst>
              <a:gd name="adj" fmla="val 8000"/>
            </a:avLst>
          </a:prstGeom>
          <a:solidFill>
            <a:srgbClr val="F1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6" name="Oval 17425"/>
          <p:cNvSpPr/>
          <p:nvPr/>
        </p:nvSpPr>
        <p:spPr>
          <a:xfrm>
            <a:off x="6295644" y="1700784"/>
            <a:ext cx="438912" cy="438912"/>
          </a:xfrm>
          <a:prstGeom prst="ellipse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27" name="Picture 17426" descr="st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982" y="1806122"/>
            <a:ext cx="228234" cy="228234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6807708" y="1700784"/>
            <a:ext cx="2041398" cy="438912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A3D9A"/>
                </a:solidFill>
                <a:latin typeface="Arial"/>
              </a:rPr>
              <a:t>Artisans &amp; locals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295644" y="2157984"/>
            <a:ext cx="2544318" cy="34747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3864"/>
                </a:solidFill>
                <a:latin typeface="Arial"/>
              </a:rPr>
              <a:t>+35%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295644" y="2505456"/>
            <a:ext cx="2544318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596572"/>
                </a:solidFill>
                <a:latin typeface="Arial"/>
              </a:rPr>
              <a:t>direct revenue*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295644" y="2761488"/>
            <a:ext cx="2544318" cy="6583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200"/>
              </a:spcAft>
              <a:buClr>
                <a:srgbClr val="6A3D9A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Sold inside micro-packages</a:t>
            </a:r>
          </a:p>
          <a:p>
            <a:pPr algn="l" marL="155448" indent="-155448">
              <a:spcAft>
                <a:spcPts val="200"/>
              </a:spcAft>
              <a:buClr>
                <a:srgbClr val="6A3D9A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Instant UPI split payouts</a:t>
            </a:r>
          </a:p>
          <a:p>
            <a:pPr algn="l" marL="155448" indent="-155448">
              <a:spcAft>
                <a:spcPts val="200"/>
              </a:spcAft>
              <a:buClr>
                <a:srgbClr val="6A3D9A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Credits spent at their shops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9095994" y="1609344"/>
            <a:ext cx="2727198" cy="1828800"/>
          </a:xfrm>
          <a:prstGeom prst="roundRect">
            <a:avLst>
              <a:gd name="adj" fmla="val 8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33" name="Oval 17432"/>
          <p:cNvSpPr/>
          <p:nvPr/>
        </p:nvSpPr>
        <p:spPr>
          <a:xfrm>
            <a:off x="9205722" y="1700784"/>
            <a:ext cx="438912" cy="438912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34" name="Picture 17433" descr="gov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1060" y="1806122"/>
            <a:ext cx="228234" cy="228234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9717786" y="1700784"/>
            <a:ext cx="2041398" cy="438912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8B57"/>
                </a:solidFill>
                <a:latin typeface="Arial"/>
              </a:rPr>
              <a:t>Governments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9205722" y="2157984"/>
            <a:ext cx="2544318" cy="34747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3864"/>
                </a:solidFill>
                <a:latin typeface="Arial"/>
              </a:rPr>
              <a:t>up to 40%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9205722" y="2505456"/>
            <a:ext cx="2544318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596572"/>
                </a:solidFill>
                <a:latin typeface="Arial"/>
              </a:rPr>
              <a:t>less peak congestion*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9205722" y="2761488"/>
            <a:ext cx="2544318" cy="6583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200"/>
              </a:spcAft>
              <a:buClr>
                <a:srgbClr val="2E8B57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Overflow handled in advance</a:t>
            </a:r>
          </a:p>
          <a:p>
            <a:pPr algn="l" marL="155448" indent="-155448">
              <a:spcAft>
                <a:spcPts val="200"/>
              </a:spcAft>
              <a:buClr>
                <a:srgbClr val="2E8B57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Live MSME crowd pulses</a:t>
            </a:r>
          </a:p>
          <a:p>
            <a:pPr algn="l" marL="155448" indent="-155448">
              <a:spcAft>
                <a:spcPts val="200"/>
              </a:spcAft>
              <a:buClr>
                <a:srgbClr val="2E8B57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Emergency policy switch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365760" y="3566160"/>
            <a:ext cx="11457432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365760" y="3986784"/>
            <a:ext cx="2727198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41" name="Oval 17440"/>
          <p:cNvSpPr/>
          <p:nvPr/>
        </p:nvSpPr>
        <p:spPr>
          <a:xfrm>
            <a:off x="475488" y="4078224"/>
            <a:ext cx="420624" cy="42062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42" name="Picture 17441" descr="soci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437" y="4179173"/>
            <a:ext cx="218724" cy="218724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969264" y="4078224"/>
            <a:ext cx="2068830" cy="42062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Social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493776" y="4572000"/>
            <a:ext cx="2507741" cy="13258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C2733"/>
                </a:solidFill>
                <a:latin typeface="Arial"/>
              </a:rPr>
              <a:t>Preserves indigenous crafts &amp; heritage</a:t>
            </a:r>
          </a:p>
          <a:p>
            <a:pPr algn="l" marL="155448" indent="-155448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C2733"/>
                </a:solidFill>
                <a:latin typeface="Arial"/>
              </a:rPr>
              <a:t>Brings tier-2/3 &amp; rural areas into tourism</a:t>
            </a:r>
          </a:p>
          <a:p>
            <a:pPr algn="l" marL="155448" indent="-155448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C2733"/>
                </a:solidFill>
                <a:latin typeface="Arial"/>
              </a:rPr>
              <a:t>Multilingual access for all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3275838" y="3986784"/>
            <a:ext cx="2727198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46" name="Oval 17445"/>
          <p:cNvSpPr/>
          <p:nvPr/>
        </p:nvSpPr>
        <p:spPr>
          <a:xfrm>
            <a:off x="3385566" y="4078224"/>
            <a:ext cx="420624" cy="420624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47" name="Picture 17446" descr="economi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6515" y="4179173"/>
            <a:ext cx="218724" cy="218724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3879341" y="4078224"/>
            <a:ext cx="2068830" cy="42062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8B57"/>
                </a:solidFill>
                <a:latin typeface="Arial"/>
              </a:rPr>
              <a:t>Economic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3403854" y="4572000"/>
            <a:ext cx="2507741" cy="13258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500"/>
              </a:spcAft>
              <a:buClr>
                <a:srgbClr val="2E8B57"/>
              </a:buClr>
              <a:buFont typeface="Arial"/>
              <a:buChar char="•"/>
            </a:pPr>
            <a:r>
              <a:rPr sz="1150" b="0" i="0">
                <a:solidFill>
                  <a:srgbClr val="1C2733"/>
                </a:solidFill>
                <a:latin typeface="Arial"/>
              </a:rPr>
              <a:t>Credits recirculate in the local economy</a:t>
            </a:r>
          </a:p>
          <a:p>
            <a:pPr algn="l" marL="155448" indent="-155448">
              <a:spcAft>
                <a:spcPts val="500"/>
              </a:spcAft>
              <a:buClr>
                <a:srgbClr val="2E8B57"/>
              </a:buClr>
              <a:buFont typeface="Arial"/>
              <a:buChar char="•"/>
            </a:pPr>
            <a:r>
              <a:rPr sz="1150" b="0" i="0">
                <a:solidFill>
                  <a:srgbClr val="1C2733"/>
                </a:solidFill>
                <a:latin typeface="Arial"/>
              </a:rPr>
              <a:t>Hotels keep 100% of direct-booking margin</a:t>
            </a:r>
          </a:p>
          <a:p>
            <a:pPr algn="l" marL="155448" indent="-155448">
              <a:spcAft>
                <a:spcPts val="500"/>
              </a:spcAft>
              <a:buClr>
                <a:srgbClr val="2E8B57"/>
              </a:buClr>
              <a:buFont typeface="Arial"/>
              <a:buChar char="•"/>
            </a:pPr>
            <a:r>
              <a:rPr sz="1150" b="0" i="0">
                <a:solidFill>
                  <a:srgbClr val="1C2733"/>
                </a:solidFill>
                <a:latin typeface="Arial"/>
              </a:rPr>
              <a:t>Crowd balancing paid by hotels, not subsidies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6185916" y="3986784"/>
            <a:ext cx="2727198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51" name="Oval 17450"/>
          <p:cNvSpPr/>
          <p:nvPr/>
        </p:nvSpPr>
        <p:spPr>
          <a:xfrm>
            <a:off x="6295644" y="4078224"/>
            <a:ext cx="420624" cy="420624"/>
          </a:xfrm>
          <a:prstGeom prst="ellipse">
            <a:avLst/>
          </a:prstGeom>
          <a:solidFill>
            <a:srgbClr val="3A7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52" name="Picture 17451" descr="env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96593" y="4179173"/>
            <a:ext cx="218724" cy="218724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6789420" y="4078224"/>
            <a:ext cx="2068830" cy="42062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3A7D44"/>
                </a:solidFill>
                <a:latin typeface="Arial"/>
              </a:rPr>
              <a:t>Environmental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6313932" y="4572000"/>
            <a:ext cx="2507741" cy="13258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500"/>
              </a:spcAft>
              <a:buClr>
                <a:srgbClr val="3A7D44"/>
              </a:buClr>
              <a:buFont typeface="Arial"/>
              <a:buChar char="•"/>
            </a:pPr>
            <a:r>
              <a:rPr sz="1150" b="0" i="0">
                <a:solidFill>
                  <a:srgbClr val="1C2733"/>
                </a:solidFill>
                <a:latin typeface="Arial"/>
              </a:rPr>
              <a:t>Less strain on fragile spots (Ladakh, Shimla, Munnar)</a:t>
            </a:r>
          </a:p>
          <a:p>
            <a:pPr algn="l" marL="155448" indent="-155448">
              <a:spcAft>
                <a:spcPts val="500"/>
              </a:spcAft>
              <a:buClr>
                <a:srgbClr val="3A7D44"/>
              </a:buClr>
              <a:buFont typeface="Arial"/>
              <a:buChar char="•"/>
            </a:pPr>
            <a:r>
              <a:rPr sz="1150" b="0" i="0">
                <a:solidFill>
                  <a:srgbClr val="1C2733"/>
                </a:solidFill>
                <a:latin typeface="Arial"/>
              </a:rPr>
              <a:t>Rewards off-peak &amp; eco-friendly transit</a:t>
            </a:r>
          </a:p>
          <a:p>
            <a:pPr algn="l" marL="155448" indent="-155448">
              <a:spcAft>
                <a:spcPts val="500"/>
              </a:spcAft>
              <a:buClr>
                <a:srgbClr val="3A7D44"/>
              </a:buClr>
              <a:buFont typeface="Arial"/>
              <a:buChar char="•"/>
            </a:pPr>
            <a:r>
              <a:rPr sz="1150" b="0" i="0">
                <a:solidFill>
                  <a:srgbClr val="1C2733"/>
                </a:solidFill>
                <a:latin typeface="Arial"/>
              </a:rPr>
              <a:t>Supports SDG 8 &amp; SDG 12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9095994" y="3986784"/>
            <a:ext cx="2727198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56" name="Oval 17455"/>
          <p:cNvSpPr/>
          <p:nvPr/>
        </p:nvSpPr>
        <p:spPr>
          <a:xfrm>
            <a:off x="9205722" y="4078224"/>
            <a:ext cx="420624" cy="42062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57" name="Picture 17456" descr="kava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06671" y="4179173"/>
            <a:ext cx="218724" cy="218724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9699498" y="4078224"/>
            <a:ext cx="2068830" cy="42062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D64545"/>
                </a:solidFill>
                <a:latin typeface="Arial"/>
              </a:rPr>
              <a:t>Safety &amp; privacy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9224010" y="4572000"/>
            <a:ext cx="2507741" cy="13258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500"/>
              </a:spcAft>
              <a:buClr>
                <a:srgbClr val="D64545"/>
              </a:buClr>
              <a:buFont typeface="Arial"/>
              <a:buChar char="•"/>
            </a:pPr>
            <a:r>
              <a:rPr sz="1150" b="0" i="0">
                <a:solidFill>
                  <a:srgbClr val="1C2733"/>
                </a:solidFill>
                <a:latin typeface="Arial"/>
              </a:rPr>
              <a:t>Offline SOS in no-network areas</a:t>
            </a:r>
          </a:p>
          <a:p>
            <a:pPr algn="l" marL="155448" indent="-155448">
              <a:spcAft>
                <a:spcPts val="500"/>
              </a:spcAft>
              <a:buClr>
                <a:srgbClr val="D64545"/>
              </a:buClr>
              <a:buFont typeface="Arial"/>
              <a:buChar char="•"/>
            </a:pPr>
            <a:r>
              <a:rPr sz="1150" b="0" i="0">
                <a:solidFill>
                  <a:srgbClr val="1C2733"/>
                </a:solidFill>
                <a:latin typeface="Arial"/>
              </a:rPr>
              <a:t>DPDP Act 2023: no PII, anonymised H3 counts</a:t>
            </a:r>
          </a:p>
          <a:p>
            <a:pPr algn="l" marL="155448" indent="-155448">
              <a:spcAft>
                <a:spcPts val="500"/>
              </a:spcAft>
              <a:buClr>
                <a:srgbClr val="D64545"/>
              </a:buClr>
              <a:buFont typeface="Arial"/>
              <a:buChar char="•"/>
            </a:pPr>
            <a:r>
              <a:rPr sz="1150" b="0" i="0">
                <a:solidFill>
                  <a:srgbClr val="1C2733"/>
                </a:solidFill>
                <a:latin typeface="Arial"/>
              </a:rPr>
              <a:t>Weather-aware re-planning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365760" y="5998464"/>
            <a:ext cx="11430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596572"/>
                </a:solidFill>
                <a:latin typeface="Arial"/>
              </a:rPr>
              <a:t>*Target outcomes to be validated in the pilot; microservice-based dynamic pricing has shown +22% revenue in published research (Barua &amp; Kaiser, 2024).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b="1" sz="1100"/>
              <a:t>YatraDrishti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65760" y="1188720"/>
            <a:ext cx="11457432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Oval 17410"/>
          <p:cNvSpPr/>
          <p:nvPr/>
        </p:nvSpPr>
        <p:spPr>
          <a:xfrm>
            <a:off x="365760" y="1645920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12" name="Picture 17411" descr="uni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931" y="1738091"/>
            <a:ext cx="199704" cy="199704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841248" y="1645920"/>
            <a:ext cx="5074920" cy="38404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Data, platforms &amp; policy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65760" y="2121408"/>
            <a:ext cx="5577840" cy="2834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4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Ministry of Tourism data portal (tourist footfall)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5"/>
              </a:rPr>
              <a:t>data.tourism.gov.in</a:t>
            </a:r>
          </a:p>
          <a:p>
            <a:pPr algn="l" marL="155448" indent="-155448">
              <a:spcAft>
                <a:spcPts val="4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OpenStreetMap (heritage sites, transit nodes)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6"/>
              </a:rPr>
              <a:t>openstreetmap.org</a:t>
            </a:r>
          </a:p>
          <a:p>
            <a:pPr algn="l" marL="155448" indent="-155448">
              <a:spcAft>
                <a:spcPts val="4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OpenWeatherMap API (weather-aware plans)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7"/>
              </a:rPr>
              <a:t>openweathermap.org</a:t>
            </a:r>
          </a:p>
          <a:p>
            <a:pPr algn="l" marL="155448" indent="-155448">
              <a:spcAft>
                <a:spcPts val="4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Antonio et al. (2019) Hotel booking demand datasets, Data in Brief 22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8"/>
              </a:rPr>
              <a:t>doi:10.1016/j.dib.2018.11.126</a:t>
            </a:r>
          </a:p>
          <a:p>
            <a:pPr algn="l" marL="155448" indent="-155448">
              <a:spcAft>
                <a:spcPts val="4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Baileys WhatsApp Web library (our gateway)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9"/>
              </a:rPr>
              <a:t>github.com/WhiskeySockets/Baileys</a:t>
            </a:r>
          </a:p>
          <a:p>
            <a:pPr algn="l" marL="155448" indent="-155448">
              <a:spcAft>
                <a:spcPts val="4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Digital Personal Data Protection Act 2023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10"/>
              </a:rPr>
              <a:t>meity.gov.in</a:t>
            </a:r>
          </a:p>
          <a:p>
            <a:pPr algn="l" marL="155448" indent="-155448">
              <a:spcAft>
                <a:spcPts val="4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UN Sustainable Development Goals 8 &amp; 12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11"/>
              </a:rPr>
              <a:t>sdgs.un.org/goals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6245352" y="1645920"/>
            <a:ext cx="384048" cy="384048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16" name="Picture 17415" descr="flas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7523" y="1738091"/>
            <a:ext cx="199704" cy="199704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6720840" y="1645920"/>
            <a:ext cx="5074920" cy="38404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7722"/>
                </a:solidFill>
                <a:latin typeface="Arial"/>
              </a:rPr>
              <a:t>Research papers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45352" y="2121408"/>
            <a:ext cx="5577840" cy="2834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4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Barua &amp; Kaiser (2024) Microservices dynamic pricing in travel: +22% revenue, 17% faster pricing</a:t>
            </a:r>
            <a:r>
              <a:rPr sz="1050" b="0" i="0">
                <a:solidFill>
                  <a:srgbClr val="1C2733"/>
                </a:solidFill>
                <a:latin typeface="Arial"/>
              </a:rPr>
              <a:t>  </a:t>
            </a:r>
            <a:r>
              <a:rPr sz="1050" b="0" i="0">
                <a:solidFill>
                  <a:srgbClr val="0070C0"/>
                </a:solidFill>
                <a:latin typeface="Arial"/>
                <a:hlinkClick r:id="rId13"/>
              </a:rPr>
              <a:t>arXiv:2411.01636</a:t>
            </a:r>
          </a:p>
          <a:p>
            <a:pPr algn="l" marL="155448" indent="-155448">
              <a:spcAft>
                <a:spcPts val="4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Gössling &amp; Mei (2025) AI and sustainable tourism: risks &amp; opportunities for the SDGs, Current Issues in Tourism</a:t>
            </a:r>
            <a:r>
              <a:rPr sz="1050" b="0" i="0">
                <a:solidFill>
                  <a:srgbClr val="1C2733"/>
                </a:solidFill>
                <a:latin typeface="Arial"/>
              </a:rPr>
              <a:t>  </a:t>
            </a:r>
            <a:r>
              <a:rPr sz="1050" b="0" i="0">
                <a:solidFill>
                  <a:srgbClr val="0070C0"/>
                </a:solidFill>
                <a:latin typeface="Arial"/>
                <a:hlinkClick r:id="rId14"/>
              </a:rPr>
              <a:t>doi:10.1080/13683500.2025.2477142</a:t>
            </a:r>
          </a:p>
          <a:p>
            <a:pPr algn="l" marL="155448" indent="-155448">
              <a:spcAft>
                <a:spcPts val="4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Vickrey (1961) Counterspeculation, auctions &amp; sealed tenders, J. of Finance (Demand Exchange)</a:t>
            </a:r>
            <a:r>
              <a:rPr sz="1050" b="0" i="0">
                <a:solidFill>
                  <a:srgbClr val="1C2733"/>
                </a:solidFill>
                <a:latin typeface="Arial"/>
              </a:rPr>
              <a:t>  </a:t>
            </a:r>
            <a:r>
              <a:rPr sz="1050" b="0" i="0">
                <a:solidFill>
                  <a:srgbClr val="0070C0"/>
                </a:solidFill>
                <a:latin typeface="Arial"/>
                <a:hlinkClick r:id="rId15"/>
              </a:rPr>
              <a:t>doi:10.1111/j.1540-6261.1961.tb02789.x</a:t>
            </a:r>
          </a:p>
          <a:p>
            <a:pPr algn="l" marL="155448" indent="-155448">
              <a:spcAft>
                <a:spcPts val="4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Cifuentes (1992) Tourism carrying-capacity method, CATIE (Capacity Guard)</a:t>
            </a:r>
          </a:p>
          <a:p>
            <a:pPr algn="l" marL="155448" indent="-155448">
              <a:spcAft>
                <a:spcPts val="4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Chen &amp; Guestrin (2016) XGBoost: a scalable tree boosting system, KDD</a:t>
            </a:r>
            <a:r>
              <a:rPr sz="1050" b="0" i="0">
                <a:solidFill>
                  <a:srgbClr val="1C2733"/>
                </a:solidFill>
                <a:latin typeface="Arial"/>
              </a:rPr>
              <a:t>  </a:t>
            </a:r>
            <a:r>
              <a:rPr sz="1050" b="0" i="0">
                <a:solidFill>
                  <a:srgbClr val="0070C0"/>
                </a:solidFill>
                <a:latin typeface="Arial"/>
                <a:hlinkClick r:id="rId16"/>
              </a:rPr>
              <a:t>doi:10.1145/2939672.2939785</a:t>
            </a:r>
          </a:p>
          <a:p>
            <a:pPr algn="l" marL="155448" indent="-155448">
              <a:spcAft>
                <a:spcPts val="4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Taylor &amp; Letham (2018) Forecasting at scale (Prophet), The American Statistician</a:t>
            </a:r>
            <a:r>
              <a:rPr sz="1050" b="0" i="0">
                <a:solidFill>
                  <a:srgbClr val="1C2733"/>
                </a:solidFill>
                <a:latin typeface="Arial"/>
              </a:rPr>
              <a:t>  </a:t>
            </a:r>
            <a:r>
              <a:rPr sz="1050" b="0" i="0">
                <a:solidFill>
                  <a:srgbClr val="0070C0"/>
                </a:solidFill>
                <a:latin typeface="Arial"/>
                <a:hlinkClick r:id="rId17"/>
              </a:rPr>
              <a:t>doi:10.1080/00031305.2017.1380080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65760" y="5010912"/>
            <a:ext cx="11457432" cy="548640"/>
          </a:xfrm>
          <a:prstGeom prst="roundRect">
            <a:avLst>
              <a:gd name="adj" fmla="val 30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27432" bIns="27432" wrap="square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8B57"/>
                </a:solidFill>
                <a:latin typeface="Arial"/>
              </a:rPr>
              <a:t>Our prototype base: </a:t>
            </a:r>
            <a:r>
              <a:rPr sz="1050" b="0" i="0">
                <a:solidFill>
                  <a:srgbClr val="1C2733"/>
                </a:solidFill>
                <a:latin typeface="Arial"/>
              </a:rPr>
              <a:t>working multi-tenant WhatsApp AI gateway (Node.js + Baileys) with per-tenant AI prompts; codebase security review done and remediation plan defined (see Feasibility).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65760" y="5687568"/>
            <a:ext cx="11457432" cy="548640"/>
          </a:xfrm>
          <a:prstGeom prst="roundRect">
            <a:avLst>
              <a:gd name="adj" fmla="val 3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27432" bIns="27432" wrap="square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F3864"/>
                </a:solidFill>
                <a:latin typeface="Arial"/>
              </a:rPr>
              <a:t>Competitors studied: </a:t>
            </a:r>
            <a:r>
              <a:rPr sz="1050" b="0" i="0">
                <a:solidFill>
                  <a:srgbClr val="1C2733"/>
                </a:solidFill>
                <a:latin typeface="Arial"/>
              </a:rPr>
              <a:t>OTAs (MakeMyTrip, Booking.com: 15–30% commission) · AI planners (Mindtrip.ai: no hotel link) · state e-pass systems (cap entry, don't redirect). </a:t>
            </a:r>
            <a:r>
              <a:rPr sz="1050" b="1" i="0">
                <a:solidFill>
                  <a:srgbClr val="E87722"/>
                </a:solidFill>
                <a:latin typeface="Arial"/>
              </a:rPr>
              <a:t>None of these offers a hotel-bid Demand Exchange or a per-hotel WhatsApp AI desk.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7487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147</cp:revision>
  <dcterms:created xsi:type="dcterms:W3CDTF">2013-12-12T18:46:50Z</dcterms:created>
  <dcterms:modified xsi:type="dcterms:W3CDTF">2025-06-26T06:39:00Z</dcterms:modified>
  <cp:category/>
</cp:coreProperties>
</file>