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6/26/2025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6/26/2025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0.png"/><Relationship Id="rId9" Type="http://schemas.openxmlformats.org/officeDocument/2006/relationships/image" Target="../media/image16.png"/><Relationship Id="rId10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hyperlink" Target="https://tourism.gov.in" TargetMode="External"/><Relationship Id="rId6" Type="http://schemas.openxmlformats.org/officeDocument/2006/relationships/hyperlink" Target="https://pib.gov.in" TargetMode="External"/><Relationship Id="rId7" Type="http://schemas.openxmlformats.org/officeDocument/2006/relationships/hyperlink" Target="https://www.indiabudget.gov.in" TargetMode="External"/><Relationship Id="rId8" Type="http://schemas.openxmlformats.org/officeDocument/2006/relationships/hyperlink" Target="https://www.e-unwto.org" TargetMode="External"/><Relationship Id="rId9" Type="http://schemas.openxmlformats.org/officeDocument/2006/relationships/hyperlink" Target="https://www.meity.gov.in" TargetMode="External"/><Relationship Id="rId10" Type="http://schemas.openxmlformats.org/officeDocument/2006/relationships/hyperlink" Target="https://ondc.org" TargetMode="External"/><Relationship Id="rId11" Type="http://schemas.openxmlformats.org/officeDocument/2006/relationships/hyperlink" Target="https://bhashini.gov.in" TargetMode="External"/><Relationship Id="rId12" Type="http://schemas.openxmlformats.org/officeDocument/2006/relationships/hyperlink" Target="https://sachet.ndma.gov.in" TargetMode="External"/><Relationship Id="rId13" Type="http://schemas.openxmlformats.org/officeDocument/2006/relationships/hyperlink" Target="https://nidhi.tourism.gov.in" TargetMode="External"/><Relationship Id="rId14" Type="http://schemas.openxmlformats.org/officeDocument/2006/relationships/image" Target="../media/image18.png"/><Relationship Id="rId15" Type="http://schemas.openxmlformats.org/officeDocument/2006/relationships/hyperlink" Target="https://doi.org/10.1016/j.tourman.2007.07.016" TargetMode="External"/><Relationship Id="rId16" Type="http://schemas.openxmlformats.org/officeDocument/2006/relationships/hyperlink" Target="https://arxiv.org/abs/1912.09363" TargetMode="External"/><Relationship Id="rId17" Type="http://schemas.openxmlformats.org/officeDocument/2006/relationships/hyperlink" Target="https://doi.org/10.1080/01621459.2018.1448825" TargetMode="External"/><Relationship Id="rId18" Type="http://schemas.openxmlformats.org/officeDocument/2006/relationships/hyperlink" Target="https://doi.org/10.1111/j.1541-0064.1980.tb00970.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1800" b="0" dirty="0">
                <a:solidFill>
                  <a:srgbClr val="1F386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__________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1800" b="0" dirty="0">
                <a:solidFill>
                  <a:srgbClr val="1F386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 Innovation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1800" b="0" dirty="0">
                <a:solidFill>
                  <a:srgbClr val="1F386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Travel &amp; Tourism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1800" b="0" dirty="0">
                <a:solidFill>
                  <a:srgbClr val="1F386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  <a:r>
              <a:rPr lang="en-US" sz="1800" b="0" dirty="0">
                <a:solidFill>
                  <a:srgbClr val="1F386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__________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 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  <a:r>
              <a:rPr lang="en-US" sz="1800" b="0" dirty="0">
                <a:solidFill>
                  <a:srgbClr val="1F386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________</a:t>
            </a: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TextBox 1026"/>
          <p:cNvSpPr txBox="1"/>
          <p:nvPr/>
        </p:nvSpPr>
        <p:spPr>
          <a:xfrm>
            <a:off x="329184" y="2011680"/>
            <a:ext cx="5760720" cy="6400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E87722"/>
                </a:solidFill>
                <a:latin typeface="Arial"/>
              </a:rPr>
              <a:t>Idea: </a:t>
            </a:r>
            <a:r>
              <a:rPr sz="1300" b="1" i="0">
                <a:solidFill>
                  <a:srgbClr val="1F3864"/>
                </a:solidFill>
                <a:latin typeface="Arial"/>
              </a:rPr>
              <a:t>PRAHARI – AI Demand Forecasting &amp; Crowd Rebalancing to Boost Hotels, Homestays and Travel in 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691640" y="0"/>
            <a:ext cx="8046720" cy="1143000"/>
          </a:xfrm>
        </p:spPr>
        <p:txBody>
          <a:bodyPr/>
          <a:lstStyle/>
          <a:p>
            <a:pPr eaLnBrk="1" hangingPunct="1"/>
            <a:r>
              <a:rPr lang="en-US" sz="21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PRAHARI: AI Demand Forecasting &amp; Crowd Rebalancing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320040" y="1115568"/>
            <a:ext cx="932688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8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0" rIns="0"/>
          <a:lstStyle/>
          <a:p>
            <a:pPr algn="ctr"/>
            <a:r>
              <a:rPr lang="en-US" dirty="0" b="1" sz="1300"/>
              <a:t>PRAHARI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363" name="Rounded Rectangle 15362"/>
          <p:cNvSpPr/>
          <p:nvPr/>
        </p:nvSpPr>
        <p:spPr>
          <a:xfrm>
            <a:off x="365760" y="1572768"/>
            <a:ext cx="11457432" cy="310896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27432" bIns="27432" wrap="square"/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E87722"/>
                </a:solidFill>
                <a:latin typeface="Arial"/>
              </a:rPr>
              <a:t>❖  </a:t>
            </a:r>
            <a:r>
              <a:rPr sz="1200" b="1" i="0">
                <a:solidFill>
                  <a:srgbClr val="FFFFFF"/>
                </a:solidFill>
                <a:latin typeface="Arial"/>
              </a:rPr>
              <a:t>Detailed explanation of the proposed solution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365760" y="1920240"/>
            <a:ext cx="11457432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F3864"/>
                </a:solidFill>
                <a:latin typeface="Arial"/>
              </a:rPr>
              <a:t>PRAHARI </a:t>
            </a:r>
            <a:r>
              <a:rPr sz="1200" b="0" i="0">
                <a:solidFill>
                  <a:srgbClr val="1C2733"/>
                </a:solidFill>
                <a:latin typeface="Arial"/>
              </a:rPr>
              <a:t>(Predictive Routing &amp; AI for Hotels, Attractions, Regions &amp; Itineraries) predicts where and when tourists will go, checks each destination's live carrying capacity, and sends surplus travellers to nearby </a:t>
            </a:r>
            <a:r>
              <a:rPr sz="1200" b="1" i="0">
                <a:solidFill>
                  <a:srgbClr val="E87722"/>
                </a:solidFill>
                <a:latin typeface="Arial"/>
              </a:rPr>
              <a:t>"twin" destinations and small hotels with free rooms.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365760" y="2450592"/>
            <a:ext cx="2130552" cy="1188720"/>
          </a:xfrm>
          <a:prstGeom prst="roundRect">
            <a:avLst>
              <a:gd name="adj" fmla="val 12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sp>
        <p:nvSpPr>
          <p:cNvPr id="15366" name="Oval 15365"/>
          <p:cNvSpPr/>
          <p:nvPr/>
        </p:nvSpPr>
        <p:spPr>
          <a:xfrm>
            <a:off x="457200" y="2560320"/>
            <a:ext cx="457200" cy="4572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pic>
        <p:nvPicPr>
          <p:cNvPr id="15367" name="Picture 15366" descr="pul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2670048"/>
            <a:ext cx="237744" cy="237744"/>
          </a:xfrm>
          <a:prstGeom prst="rect">
            <a:avLst/>
          </a:prstGeom>
        </p:spPr>
      </p:pic>
      <p:sp>
        <p:nvSpPr>
          <p:cNvPr id="15368" name="TextBox 15367"/>
          <p:cNvSpPr txBox="1"/>
          <p:nvPr/>
        </p:nvSpPr>
        <p:spPr>
          <a:xfrm>
            <a:off x="969264" y="2560320"/>
            <a:ext cx="1472184" cy="4572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070C0"/>
                </a:solidFill>
                <a:latin typeface="Arial"/>
              </a:rPr>
              <a:t>1  PULSE · Predict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457200" y="3072384"/>
            <a:ext cx="1965960" cy="548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C2733"/>
                </a:solidFill>
                <a:latin typeface="Arial"/>
              </a:rPr>
              <a:t>AI forecast of footfall &amp; hotel occupancy, 1–30 days ahead</a:t>
            </a:r>
          </a:p>
        </p:txBody>
      </p:sp>
      <p:sp>
        <p:nvSpPr>
          <p:cNvPr id="15370" name="Right Arrow 15369"/>
          <p:cNvSpPr/>
          <p:nvPr/>
        </p:nvSpPr>
        <p:spPr>
          <a:xfrm>
            <a:off x="2523744" y="2907792"/>
            <a:ext cx="146304" cy="237744"/>
          </a:xfrm>
          <a:prstGeom prst="rightArrow">
            <a:avLst/>
          </a:prstGeom>
          <a:solidFill>
            <a:srgbClr val="C9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sp>
        <p:nvSpPr>
          <p:cNvPr id="15371" name="Rounded Rectangle 15370"/>
          <p:cNvSpPr/>
          <p:nvPr/>
        </p:nvSpPr>
        <p:spPr>
          <a:xfrm>
            <a:off x="2697480" y="2450592"/>
            <a:ext cx="2130552" cy="1188720"/>
          </a:xfrm>
          <a:prstGeom prst="roundRect">
            <a:avLst>
              <a:gd name="adj" fmla="val 12000"/>
            </a:avLst>
          </a:prstGeom>
          <a:solidFill>
            <a:srgbClr val="FD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sp>
        <p:nvSpPr>
          <p:cNvPr id="15372" name="Oval 15371"/>
          <p:cNvSpPr/>
          <p:nvPr/>
        </p:nvSpPr>
        <p:spPr>
          <a:xfrm>
            <a:off x="2788920" y="2560320"/>
            <a:ext cx="457200" cy="457200"/>
          </a:xfrm>
          <a:prstGeom prst="ellipse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pic>
        <p:nvPicPr>
          <p:cNvPr id="15373" name="Picture 15372" descr="bala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8648" y="2670048"/>
            <a:ext cx="237744" cy="237744"/>
          </a:xfrm>
          <a:prstGeom prst="rect">
            <a:avLst/>
          </a:prstGeom>
        </p:spPr>
      </p:pic>
      <p:sp>
        <p:nvSpPr>
          <p:cNvPr id="15374" name="TextBox 15373"/>
          <p:cNvSpPr txBox="1"/>
          <p:nvPr/>
        </p:nvSpPr>
        <p:spPr>
          <a:xfrm>
            <a:off x="3300984" y="2560320"/>
            <a:ext cx="1472184" cy="4572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E87722"/>
                </a:solidFill>
                <a:latin typeface="Arial"/>
              </a:rPr>
              <a:t>2  BALANCE · Redistribute</a:t>
            </a:r>
          </a:p>
        </p:txBody>
      </p:sp>
      <p:sp>
        <p:nvSpPr>
          <p:cNvPr id="15375" name="TextBox 15374"/>
          <p:cNvSpPr txBox="1"/>
          <p:nvPr/>
        </p:nvSpPr>
        <p:spPr>
          <a:xfrm>
            <a:off x="2788920" y="3072384"/>
            <a:ext cx="1965960" cy="548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C2733"/>
                </a:solidFill>
                <a:latin typeface="Arial"/>
              </a:rPr>
              <a:t>Live capacity index → suggests "twin" places + incentives</a:t>
            </a:r>
          </a:p>
        </p:txBody>
      </p:sp>
      <p:sp>
        <p:nvSpPr>
          <p:cNvPr id="15376" name="Right Arrow 15375"/>
          <p:cNvSpPr/>
          <p:nvPr/>
        </p:nvSpPr>
        <p:spPr>
          <a:xfrm>
            <a:off x="4855464" y="2907792"/>
            <a:ext cx="146304" cy="237744"/>
          </a:xfrm>
          <a:prstGeom prst="rightArrow">
            <a:avLst/>
          </a:prstGeom>
          <a:solidFill>
            <a:srgbClr val="C9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sp>
        <p:nvSpPr>
          <p:cNvPr id="15377" name="Rounded Rectangle 15376"/>
          <p:cNvSpPr/>
          <p:nvPr/>
        </p:nvSpPr>
        <p:spPr>
          <a:xfrm>
            <a:off x="5029200" y="2450592"/>
            <a:ext cx="2130552" cy="1188720"/>
          </a:xfrm>
          <a:prstGeom prst="roundRect">
            <a:avLst>
              <a:gd name="adj" fmla="val 1200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sp>
        <p:nvSpPr>
          <p:cNvPr id="15378" name="Oval 15377"/>
          <p:cNvSpPr/>
          <p:nvPr/>
        </p:nvSpPr>
        <p:spPr>
          <a:xfrm>
            <a:off x="5120640" y="2560320"/>
            <a:ext cx="457200" cy="45720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pic>
        <p:nvPicPr>
          <p:cNvPr id="15379" name="Picture 15378" descr="set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0368" y="2670048"/>
            <a:ext cx="237744" cy="237744"/>
          </a:xfrm>
          <a:prstGeom prst="rect">
            <a:avLst/>
          </a:prstGeom>
        </p:spPr>
      </p:pic>
      <p:sp>
        <p:nvSpPr>
          <p:cNvPr id="15380" name="TextBox 15379"/>
          <p:cNvSpPr txBox="1"/>
          <p:nvPr/>
        </p:nvSpPr>
        <p:spPr>
          <a:xfrm>
            <a:off x="5632704" y="2560320"/>
            <a:ext cx="1472184" cy="4572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2E8B57"/>
                </a:solidFill>
                <a:latin typeface="Arial"/>
              </a:rPr>
              <a:t>3  SETU · Include</a:t>
            </a:r>
          </a:p>
        </p:txBody>
      </p:sp>
      <p:sp>
        <p:nvSpPr>
          <p:cNvPr id="15381" name="TextBox 15380"/>
          <p:cNvSpPr txBox="1"/>
          <p:nvPr/>
        </p:nvSpPr>
        <p:spPr>
          <a:xfrm>
            <a:off x="5120640" y="3072384"/>
            <a:ext cx="1965960" cy="548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C2733"/>
                </a:solidFill>
                <a:latin typeface="Arial"/>
              </a:rPr>
              <a:t>Homestays list on WhatsApp (22 languages), sold on ONDC, paid by UPI</a:t>
            </a:r>
          </a:p>
        </p:txBody>
      </p:sp>
      <p:sp>
        <p:nvSpPr>
          <p:cNvPr id="15382" name="Right Arrow 15381"/>
          <p:cNvSpPr/>
          <p:nvPr/>
        </p:nvSpPr>
        <p:spPr>
          <a:xfrm>
            <a:off x="7187184" y="2907792"/>
            <a:ext cx="146304" cy="237744"/>
          </a:xfrm>
          <a:prstGeom prst="rightArrow">
            <a:avLst/>
          </a:prstGeom>
          <a:solidFill>
            <a:srgbClr val="C9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sp>
        <p:nvSpPr>
          <p:cNvPr id="15383" name="Rounded Rectangle 15382"/>
          <p:cNvSpPr/>
          <p:nvPr/>
        </p:nvSpPr>
        <p:spPr>
          <a:xfrm>
            <a:off x="7360920" y="2450592"/>
            <a:ext cx="2130552" cy="1188720"/>
          </a:xfrm>
          <a:prstGeom prst="roundRect">
            <a:avLst>
              <a:gd name="adj" fmla="val 1200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sp>
        <p:nvSpPr>
          <p:cNvPr id="15384" name="Oval 15383"/>
          <p:cNvSpPr/>
          <p:nvPr/>
        </p:nvSpPr>
        <p:spPr>
          <a:xfrm>
            <a:off x="7452360" y="2560320"/>
            <a:ext cx="457200" cy="457200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pic>
        <p:nvPicPr>
          <p:cNvPr id="15385" name="Picture 15384" descr="kava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62088" y="2670048"/>
            <a:ext cx="237744" cy="237744"/>
          </a:xfrm>
          <a:prstGeom prst="rect">
            <a:avLst/>
          </a:prstGeom>
        </p:spPr>
      </p:pic>
      <p:sp>
        <p:nvSpPr>
          <p:cNvPr id="15386" name="TextBox 15385"/>
          <p:cNvSpPr txBox="1"/>
          <p:nvPr/>
        </p:nvSpPr>
        <p:spPr>
          <a:xfrm>
            <a:off x="7964424" y="2560320"/>
            <a:ext cx="1472184" cy="4572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D64545"/>
                </a:solidFill>
                <a:latin typeface="Arial"/>
              </a:rPr>
              <a:t>4  KAVACH · Protect</a:t>
            </a:r>
          </a:p>
        </p:txBody>
      </p:sp>
      <p:sp>
        <p:nvSpPr>
          <p:cNvPr id="15387" name="TextBox 15386"/>
          <p:cNvSpPr txBox="1"/>
          <p:nvPr/>
        </p:nvSpPr>
        <p:spPr>
          <a:xfrm>
            <a:off x="7452360" y="3072384"/>
            <a:ext cx="1965960" cy="548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C2733"/>
                </a:solidFill>
                <a:latin typeface="Arial"/>
              </a:rPr>
              <a:t>Verified stays, fair prices, disaster alerts, SOS to 112 / 1363</a:t>
            </a:r>
          </a:p>
        </p:txBody>
      </p:sp>
      <p:sp>
        <p:nvSpPr>
          <p:cNvPr id="15388" name="Right Arrow 15387"/>
          <p:cNvSpPr/>
          <p:nvPr/>
        </p:nvSpPr>
        <p:spPr>
          <a:xfrm>
            <a:off x="9518904" y="2907792"/>
            <a:ext cx="146304" cy="237744"/>
          </a:xfrm>
          <a:prstGeom prst="rightArrow">
            <a:avLst/>
          </a:prstGeom>
          <a:solidFill>
            <a:srgbClr val="C9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sp>
        <p:nvSpPr>
          <p:cNvPr id="15389" name="Rounded Rectangle 15388"/>
          <p:cNvSpPr/>
          <p:nvPr/>
        </p:nvSpPr>
        <p:spPr>
          <a:xfrm>
            <a:off x="9692640" y="2450592"/>
            <a:ext cx="2130552" cy="1188720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sp>
        <p:nvSpPr>
          <p:cNvPr id="15390" name="Oval 15389"/>
          <p:cNvSpPr/>
          <p:nvPr/>
        </p:nvSpPr>
        <p:spPr>
          <a:xfrm>
            <a:off x="9784080" y="2560320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pic>
        <p:nvPicPr>
          <p:cNvPr id="15391" name="Picture 15390" descr="drisht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93808" y="2670048"/>
            <a:ext cx="237744" cy="237744"/>
          </a:xfrm>
          <a:prstGeom prst="rect">
            <a:avLst/>
          </a:prstGeom>
        </p:spPr>
      </p:pic>
      <p:sp>
        <p:nvSpPr>
          <p:cNvPr id="15392" name="TextBox 15391"/>
          <p:cNvSpPr txBox="1"/>
          <p:nvPr/>
        </p:nvSpPr>
        <p:spPr>
          <a:xfrm>
            <a:off x="10296144" y="2560320"/>
            <a:ext cx="1472184" cy="4572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F3864"/>
                </a:solidFill>
                <a:latin typeface="Arial"/>
              </a:rPr>
              <a:t>5  DRISHTI · Govern</a:t>
            </a:r>
          </a:p>
        </p:txBody>
      </p:sp>
      <p:sp>
        <p:nvSpPr>
          <p:cNvPr id="15393" name="TextBox 15392"/>
          <p:cNvSpPr txBox="1"/>
          <p:nvPr/>
        </p:nvSpPr>
        <p:spPr>
          <a:xfrm>
            <a:off x="9784080" y="3072384"/>
            <a:ext cx="1965960" cy="548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C2733"/>
                </a:solidFill>
                <a:latin typeface="Arial"/>
              </a:rPr>
              <a:t>Live dashboard &amp; what-if simulator for tourism officials</a:t>
            </a:r>
          </a:p>
        </p:txBody>
      </p:sp>
      <p:sp>
        <p:nvSpPr>
          <p:cNvPr id="15394" name="Rounded Rectangle 15393"/>
          <p:cNvSpPr/>
          <p:nvPr/>
        </p:nvSpPr>
        <p:spPr>
          <a:xfrm>
            <a:off x="365760" y="3931920"/>
            <a:ext cx="5614416" cy="310896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27432" bIns="27432" wrap="square"/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E87722"/>
                </a:solidFill>
                <a:latin typeface="Arial"/>
              </a:rPr>
              <a:t>❖  </a:t>
            </a:r>
            <a:r>
              <a:rPr sz="1200" b="1" i="0">
                <a:solidFill>
                  <a:srgbClr val="FFFFFF"/>
                </a:solidFill>
                <a:latin typeface="Arial"/>
              </a:rPr>
              <a:t>How it addresses the problem</a:t>
            </a:r>
          </a:p>
        </p:txBody>
      </p:sp>
      <p:sp>
        <p:nvSpPr>
          <p:cNvPr id="15395" name="TextBox 15394"/>
          <p:cNvSpPr txBox="1"/>
          <p:nvPr/>
        </p:nvSpPr>
        <p:spPr>
          <a:xfrm>
            <a:off x="411480" y="4315968"/>
            <a:ext cx="5568696" cy="21031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marL="155448" indent="-155448">
              <a:spcAft>
                <a:spcPts val="600"/>
              </a:spcAft>
              <a:buClr>
                <a:srgbClr val="E87722"/>
              </a:buClr>
              <a:buFont typeface="Arial"/>
              <a:buChar char="•"/>
            </a:pPr>
            <a:r>
              <a:rPr sz="1200" b="1" i="0">
                <a:solidFill>
                  <a:srgbClr val="D64545"/>
                </a:solidFill>
                <a:latin typeface="Arial"/>
              </a:rPr>
              <a:t>Overcrowded hotspots</a:t>
            </a:r>
            <a:r>
              <a:rPr sz="1200" b="0" i="0">
                <a:solidFill>
                  <a:srgbClr val="596572"/>
                </a:solidFill>
                <a:latin typeface="Arial"/>
              </a:rPr>
              <a:t>  →  </a:t>
            </a:r>
            <a:r>
              <a:rPr sz="1200" b="0" i="0">
                <a:solidFill>
                  <a:srgbClr val="1C2733"/>
                </a:solidFill>
                <a:latin typeface="Arial"/>
              </a:rPr>
              <a:t>7–14 days early warning + overflow moved to twins</a:t>
            </a:r>
          </a:p>
          <a:p>
            <a:pPr algn="l" marL="155448" indent="-155448">
              <a:spcAft>
                <a:spcPts val="600"/>
              </a:spcAft>
              <a:buClr>
                <a:srgbClr val="E87722"/>
              </a:buClr>
              <a:buFont typeface="Arial"/>
              <a:buChar char="•"/>
            </a:pPr>
            <a:r>
              <a:rPr sz="1200" b="1" i="0">
                <a:solidFill>
                  <a:srgbClr val="D64545"/>
                </a:solidFill>
                <a:latin typeface="Arial"/>
              </a:rPr>
              <a:t>Empty rooms next door</a:t>
            </a:r>
            <a:r>
              <a:rPr sz="1200" b="0" i="0">
                <a:solidFill>
                  <a:srgbClr val="596572"/>
                </a:solidFill>
                <a:latin typeface="Arial"/>
              </a:rPr>
              <a:t>  →  </a:t>
            </a:r>
            <a:r>
              <a:rPr sz="1200" b="0" i="0">
                <a:solidFill>
                  <a:srgbClr val="1C2733"/>
                </a:solidFill>
                <a:latin typeface="Arial"/>
              </a:rPr>
              <a:t>surplus demand sent to under-used homestays</a:t>
            </a:r>
          </a:p>
          <a:p>
            <a:pPr algn="l" marL="155448" indent="-155448">
              <a:spcAft>
                <a:spcPts val="600"/>
              </a:spcAft>
              <a:buClr>
                <a:srgbClr val="E87722"/>
              </a:buClr>
              <a:buFont typeface="Arial"/>
              <a:buChar char="•"/>
            </a:pPr>
            <a:r>
              <a:rPr sz="1200" b="1" i="0">
                <a:solidFill>
                  <a:srgbClr val="D64545"/>
                </a:solidFill>
                <a:latin typeface="Arial"/>
              </a:rPr>
              <a:t>15–25% OTA commission</a:t>
            </a:r>
            <a:r>
              <a:rPr sz="1200" b="0" i="0">
                <a:solidFill>
                  <a:srgbClr val="596572"/>
                </a:solidFill>
                <a:latin typeface="Arial"/>
              </a:rPr>
              <a:t>  →  </a:t>
            </a:r>
            <a:r>
              <a:rPr sz="1200" b="0" i="0">
                <a:solidFill>
                  <a:srgbClr val="1C2733"/>
                </a:solidFill>
                <a:latin typeface="Arial"/>
              </a:rPr>
              <a:t>single-digit fees via government-backed ONDC</a:t>
            </a:r>
          </a:p>
          <a:p>
            <a:pPr algn="l" marL="155448" indent="-155448">
              <a:spcAft>
                <a:spcPts val="600"/>
              </a:spcAft>
              <a:buClr>
                <a:srgbClr val="E87722"/>
              </a:buClr>
              <a:buFont typeface="Arial"/>
              <a:buChar char="•"/>
            </a:pPr>
            <a:r>
              <a:rPr sz="1200" b="1" i="0">
                <a:solidFill>
                  <a:srgbClr val="D64545"/>
                </a:solidFill>
                <a:latin typeface="Arial"/>
              </a:rPr>
              <a:t>Officials act too late</a:t>
            </a:r>
            <a:r>
              <a:rPr sz="1200" b="0" i="0">
                <a:solidFill>
                  <a:srgbClr val="596572"/>
                </a:solidFill>
                <a:latin typeface="Arial"/>
              </a:rPr>
              <a:t>  →  </a:t>
            </a:r>
            <a:r>
              <a:rPr sz="1200" b="0" i="0">
                <a:solidFill>
                  <a:srgbClr val="1C2733"/>
                </a:solidFill>
                <a:latin typeface="Arial"/>
              </a:rPr>
              <a:t>live dashboard + permit / campaign simulator</a:t>
            </a:r>
          </a:p>
          <a:p>
            <a:pPr algn="l" marL="155448" indent="-155448">
              <a:spcAft>
                <a:spcPts val="600"/>
              </a:spcAft>
              <a:buClr>
                <a:srgbClr val="E87722"/>
              </a:buClr>
              <a:buFont typeface="Arial"/>
              <a:buChar char="•"/>
            </a:pPr>
            <a:r>
              <a:rPr sz="1200" b="1" i="0">
                <a:solidFill>
                  <a:srgbClr val="D64545"/>
                </a:solidFill>
                <a:latin typeface="Arial"/>
              </a:rPr>
              <a:t>Tourist safety gaps</a:t>
            </a:r>
            <a:r>
              <a:rPr sz="1200" b="0" i="0">
                <a:solidFill>
                  <a:srgbClr val="596572"/>
                </a:solidFill>
                <a:latin typeface="Arial"/>
              </a:rPr>
              <a:t>  →  </a:t>
            </a:r>
            <a:r>
              <a:rPr sz="1200" b="0" i="0">
                <a:solidFill>
                  <a:srgbClr val="1C2733"/>
                </a:solidFill>
                <a:latin typeface="Arial"/>
              </a:rPr>
              <a:t>SACHET alerts, SOS, fair-price registry</a:t>
            </a:r>
          </a:p>
        </p:txBody>
      </p:sp>
      <p:sp>
        <p:nvSpPr>
          <p:cNvPr id="15396" name="Rounded Rectangle 15395"/>
          <p:cNvSpPr/>
          <p:nvPr/>
        </p:nvSpPr>
        <p:spPr>
          <a:xfrm>
            <a:off x="6208776" y="3931920"/>
            <a:ext cx="5614416" cy="310896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27432" bIns="27432" wrap="square"/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E87722"/>
                </a:solidFill>
                <a:latin typeface="Arial"/>
              </a:rPr>
              <a:t>❖  </a:t>
            </a:r>
            <a:r>
              <a:rPr sz="1200" b="1" i="0">
                <a:solidFill>
                  <a:srgbClr val="FFFFFF"/>
                </a:solidFill>
                <a:latin typeface="Arial"/>
              </a:rPr>
              <a:t>Innovation and uniqueness of the solution</a:t>
            </a:r>
          </a:p>
        </p:txBody>
      </p:sp>
      <p:sp>
        <p:nvSpPr>
          <p:cNvPr id="15397" name="TextBox 15396"/>
          <p:cNvSpPr txBox="1"/>
          <p:nvPr/>
        </p:nvSpPr>
        <p:spPr>
          <a:xfrm>
            <a:off x="6254496" y="4315968"/>
            <a:ext cx="5568696" cy="21031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marL="155448" indent="-155448">
              <a:spcAft>
                <a:spcPts val="600"/>
              </a:spcAft>
              <a:buClr>
                <a:srgbClr val="2E8B57"/>
              </a:buClr>
              <a:buFont typeface="Arial"/>
              <a:buChar char="•"/>
            </a:pPr>
            <a:r>
              <a:rPr sz="1200" b="1" i="0">
                <a:solidFill>
                  <a:srgbClr val="1F3864"/>
                </a:solidFill>
                <a:latin typeface="Arial"/>
              </a:rPr>
              <a:t>First closed loop: </a:t>
            </a:r>
            <a:r>
              <a:rPr sz="1200" b="0" i="0">
                <a:solidFill>
                  <a:srgbClr val="1C2733"/>
                </a:solidFill>
                <a:latin typeface="Arial"/>
              </a:rPr>
              <a:t>Predict → Measure → Redistribute (others only sell, inform or restrict)</a:t>
            </a:r>
          </a:p>
          <a:p>
            <a:pPr algn="l" marL="155448" indent="-155448">
              <a:spcAft>
                <a:spcPts val="600"/>
              </a:spcAft>
              <a:buClr>
                <a:srgbClr val="2E8B57"/>
              </a:buClr>
              <a:buFont typeface="Arial"/>
              <a:buChar char="•"/>
            </a:pPr>
            <a:r>
              <a:rPr sz="1200" b="1" i="0">
                <a:solidFill>
                  <a:srgbClr val="1F3864"/>
                </a:solidFill>
                <a:latin typeface="Arial"/>
              </a:rPr>
              <a:t>Dynamic Carrying Capacity Index: </a:t>
            </a:r>
            <a:r>
              <a:rPr sz="1200" b="0" i="0">
                <a:solidFill>
                  <a:srgbClr val="1C2733"/>
                </a:solidFill>
                <a:latin typeface="Arial"/>
              </a:rPr>
              <a:t>one-time studies become a daily number</a:t>
            </a:r>
          </a:p>
          <a:p>
            <a:pPr algn="l" marL="155448" indent="-155448">
              <a:spcAft>
                <a:spcPts val="600"/>
              </a:spcAft>
              <a:buClr>
                <a:srgbClr val="2E8B57"/>
              </a:buClr>
              <a:buFont typeface="Arial"/>
              <a:buChar char="•"/>
            </a:pPr>
            <a:r>
              <a:rPr sz="1200" b="1" i="0">
                <a:solidFill>
                  <a:srgbClr val="1F3864"/>
                </a:solidFill>
                <a:latin typeface="Arial"/>
              </a:rPr>
              <a:t>No overflow cascade: </a:t>
            </a:r>
            <a:r>
              <a:rPr sz="1200" b="0" i="0">
                <a:solidFill>
                  <a:srgbClr val="1C2733"/>
                </a:solidFill>
                <a:latin typeface="Arial"/>
              </a:rPr>
              <a:t>twins are never pushed above 80% of their capacity</a:t>
            </a:r>
          </a:p>
          <a:p>
            <a:pPr algn="l" marL="155448" indent="-155448">
              <a:spcAft>
                <a:spcPts val="600"/>
              </a:spcAft>
              <a:buClr>
                <a:srgbClr val="2E8B57"/>
              </a:buClr>
              <a:buFont typeface="Arial"/>
              <a:buChar char="•"/>
            </a:pPr>
            <a:r>
              <a:rPr sz="1200" b="1" i="0">
                <a:solidFill>
                  <a:srgbClr val="1F3864"/>
                </a:solidFill>
                <a:latin typeface="Arial"/>
              </a:rPr>
              <a:t>Self-learning incentives: </a:t>
            </a:r>
            <a:r>
              <a:rPr sz="1200" b="0" i="0">
                <a:solidFill>
                  <a:srgbClr val="1C2733"/>
                </a:solidFill>
                <a:latin typeface="Arial"/>
              </a:rPr>
              <a:t>Thompson sampling picks the nudge that works</a:t>
            </a:r>
          </a:p>
          <a:p>
            <a:pPr algn="l" marL="155448" indent="-155448">
              <a:spcAft>
                <a:spcPts val="600"/>
              </a:spcAft>
              <a:buClr>
                <a:srgbClr val="2E8B57"/>
              </a:buClr>
              <a:buFont typeface="Arial"/>
              <a:buChar char="•"/>
            </a:pPr>
            <a:r>
              <a:rPr sz="1200" b="1" i="0">
                <a:solidFill>
                  <a:srgbClr val="1F3864"/>
                </a:solidFill>
                <a:latin typeface="Arial"/>
              </a:rPr>
              <a:t>Built on India's DPI: </a:t>
            </a:r>
            <a:r>
              <a:rPr sz="1200" b="0" i="0">
                <a:solidFill>
                  <a:srgbClr val="1C2733"/>
                </a:solidFill>
                <a:latin typeface="Arial"/>
              </a:rPr>
              <a:t>ONDC · Bhashini · UPI · NIDHI · SACHET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0" rIns="0"/>
          <a:lstStyle/>
          <a:p>
            <a:pPr algn="ctr"/>
            <a:r>
              <a:rPr lang="en-US" dirty="0" b="1" sz="1300"/>
              <a:t>PRAHARI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0" name="Rounded Rectangle 17409"/>
          <p:cNvSpPr/>
          <p:nvPr/>
        </p:nvSpPr>
        <p:spPr>
          <a:xfrm>
            <a:off x="365760" y="1188720"/>
            <a:ext cx="4160520" cy="56692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27432" bIns="27432" wrap="square"/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E87722"/>
                </a:solidFill>
                <a:latin typeface="Arial"/>
              </a:rPr>
              <a:t>❖  </a:t>
            </a:r>
            <a:r>
              <a:rPr sz="1200" b="1" i="0">
                <a:solidFill>
                  <a:srgbClr val="FFFFFF"/>
                </a:solidFill>
                <a:latin typeface="Arial"/>
              </a:rPr>
              <a:t>Technologies to be used (e.g. programming languages, frameworks, hardware)</a:t>
            </a:r>
          </a:p>
        </p:txBody>
      </p:sp>
      <p:graphicFrame>
        <p:nvGraphicFramePr>
          <p:cNvPr id="17411" name="Table 17410"/>
          <p:cNvGraphicFramePr>
            <a:graphicFrameLocks noGrp="1"/>
          </p:cNvGraphicFramePr>
          <p:nvPr/>
        </p:nvGraphicFramePr>
        <p:xfrm>
          <a:off x="365760" y="1847088"/>
          <a:ext cx="4160520" cy="38679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97280"/>
                <a:gridCol w="3063240"/>
              </a:tblGrid>
              <a:tr h="429768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Layer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Technology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Languages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1C2733"/>
                          </a:solidFill>
                          <a:latin typeface="Arial"/>
                        </a:rPr>
                        <a:t>Python 3.11 · TypeScript · Node.js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Frontend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1C2733"/>
                          </a:solidFill>
                          <a:latin typeface="Arial"/>
                        </a:rPr>
                        <a:t>React PWA (offline) · WhatsApp bot · MapLibre + deck.gl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Backend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1C2733"/>
                          </a:solidFill>
                          <a:latin typeface="Arial"/>
                        </a:rPr>
                        <a:t>FastAPI microservices · Beckn / ONDC adapter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Data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1C2733"/>
                          </a:solidFill>
                          <a:latin typeface="Arial"/>
                        </a:rPr>
                        <a:t>PostgreSQL + PostGIS · TimescaleDB · Kafka · Redis · H3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AI / ML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1C2733"/>
                          </a:solidFill>
                          <a:latin typeface="Arial"/>
                        </a:rPr>
                        <a:t>LightGBM · Temporal Fusion Transformer · OR-Tools · MLflow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Integrations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1C2733"/>
                          </a:solidFill>
                          <a:latin typeface="Arial"/>
                        </a:rPr>
                        <a:t>ONDC · Bhashini · UPI · DigiLocker · IMD · SACHET · 112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Infra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1C2733"/>
                          </a:solidFill>
                          <a:latin typeface="Arial"/>
                        </a:rPr>
                        <a:t>Docker · Kubernetes · MeitY cloud (data in India)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Hardware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1C2733"/>
                          </a:solidFill>
                          <a:latin typeface="Arial"/>
                        </a:rPr>
                        <a:t>None: runs on any smartphone or browser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17412" name="Rounded Rectangle 17411"/>
          <p:cNvSpPr/>
          <p:nvPr/>
        </p:nvSpPr>
        <p:spPr>
          <a:xfrm>
            <a:off x="4754880" y="1188720"/>
            <a:ext cx="7068312" cy="56692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27432" bIns="27432" wrap="square"/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E87722"/>
                </a:solidFill>
                <a:latin typeface="Arial"/>
              </a:rPr>
              <a:t>❖  </a:t>
            </a:r>
            <a:r>
              <a:rPr sz="1200" b="1" i="0">
                <a:solidFill>
                  <a:srgbClr val="FFFFFF"/>
                </a:solidFill>
                <a:latin typeface="Arial"/>
              </a:rPr>
              <a:t>Methodology and process for implementation (Flow Charts/Images/ working prototype)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754880" y="1856231"/>
            <a:ext cx="1340510" cy="329184"/>
          </a:xfrm>
          <a:prstGeom prst="roundRect">
            <a:avLst>
              <a:gd name="adj" fmla="val 30000"/>
            </a:avLst>
          </a:prstGeom>
          <a:solidFill>
            <a:srgbClr val="F3F5F8"/>
          </a:solidFill>
          <a:ln w="12700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>
              <a:spcAft>
                <a:spcPts val="200"/>
              </a:spcAft>
            </a:pPr>
            <a:r>
              <a:rPr sz="950" b="0" i="0">
                <a:solidFill>
                  <a:srgbClr val="1C2733"/>
                </a:solidFill>
                <a:latin typeface="Arial"/>
              </a:rPr>
              <a:t>Permits / e-pass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6186830" y="1856231"/>
            <a:ext cx="1340510" cy="329184"/>
          </a:xfrm>
          <a:prstGeom prst="roundRect">
            <a:avLst>
              <a:gd name="adj" fmla="val 30000"/>
            </a:avLst>
          </a:prstGeom>
          <a:solidFill>
            <a:srgbClr val="F3F5F8"/>
          </a:solidFill>
          <a:ln w="12700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>
              <a:spcAft>
                <a:spcPts val="200"/>
              </a:spcAft>
            </a:pPr>
            <a:r>
              <a:rPr sz="950" b="0" i="0">
                <a:solidFill>
                  <a:srgbClr val="1C2733"/>
                </a:solidFill>
                <a:latin typeface="Arial"/>
              </a:rPr>
              <a:t>Hotel bookings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7618780" y="1856231"/>
            <a:ext cx="1340510" cy="329184"/>
          </a:xfrm>
          <a:prstGeom prst="roundRect">
            <a:avLst>
              <a:gd name="adj" fmla="val 30000"/>
            </a:avLst>
          </a:prstGeom>
          <a:solidFill>
            <a:srgbClr val="F3F5F8"/>
          </a:solidFill>
          <a:ln w="12700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>
              <a:spcAft>
                <a:spcPts val="200"/>
              </a:spcAft>
            </a:pPr>
            <a:r>
              <a:rPr sz="950" b="0" i="0">
                <a:solidFill>
                  <a:srgbClr val="1C2733"/>
                </a:solidFill>
                <a:latin typeface="Arial"/>
              </a:rPr>
              <a:t>Weather + SACHET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9050731" y="1856231"/>
            <a:ext cx="1340510" cy="329184"/>
          </a:xfrm>
          <a:prstGeom prst="roundRect">
            <a:avLst>
              <a:gd name="adj" fmla="val 30000"/>
            </a:avLst>
          </a:prstGeom>
          <a:solidFill>
            <a:srgbClr val="F3F5F8"/>
          </a:solidFill>
          <a:ln w="12700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>
              <a:spcAft>
                <a:spcPts val="200"/>
              </a:spcAft>
            </a:pPr>
            <a:r>
              <a:rPr sz="950" b="0" i="0">
                <a:solidFill>
                  <a:srgbClr val="1C2733"/>
                </a:solidFill>
                <a:latin typeface="Arial"/>
              </a:rPr>
              <a:t>Holidays &amp; events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10482681" y="1856231"/>
            <a:ext cx="1340510" cy="329184"/>
          </a:xfrm>
          <a:prstGeom prst="roundRect">
            <a:avLst>
              <a:gd name="adj" fmla="val 30000"/>
            </a:avLst>
          </a:prstGeom>
          <a:solidFill>
            <a:srgbClr val="F3F5F8"/>
          </a:solidFill>
          <a:ln w="12700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>
              <a:spcAft>
                <a:spcPts val="200"/>
              </a:spcAft>
            </a:pPr>
            <a:r>
              <a:rPr sz="950" b="0" i="0">
                <a:solidFill>
                  <a:srgbClr val="1C2733"/>
                </a:solidFill>
                <a:latin typeface="Arial"/>
              </a:rPr>
              <a:t>Search trends</a:t>
            </a:r>
          </a:p>
        </p:txBody>
      </p:sp>
      <p:sp>
        <p:nvSpPr>
          <p:cNvPr id="17418" name="Down Arrow 17417"/>
          <p:cNvSpPr/>
          <p:nvPr/>
        </p:nvSpPr>
        <p:spPr>
          <a:xfrm>
            <a:off x="8170164" y="2212848"/>
            <a:ext cx="237744" cy="219456"/>
          </a:xfrm>
          <a:prstGeom prst="downArrow">
            <a:avLst/>
          </a:prstGeom>
          <a:solidFill>
            <a:srgbClr val="596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sp>
        <p:nvSpPr>
          <p:cNvPr id="17419" name="Rounded Rectangle 17418"/>
          <p:cNvSpPr/>
          <p:nvPr/>
        </p:nvSpPr>
        <p:spPr>
          <a:xfrm>
            <a:off x="4754880" y="2468880"/>
            <a:ext cx="1575054" cy="658368"/>
          </a:xfrm>
          <a:prstGeom prst="roundRect">
            <a:avLst>
              <a:gd name="adj" fmla="val 15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 wrap="square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  Ingest &amp; clean</a:t>
            </a:r>
          </a:p>
          <a:p>
            <a:pPr algn="ctr">
              <a:spcAft>
                <a:spcPts val="20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Kafka · PostGIS</a:t>
            </a:r>
          </a:p>
        </p:txBody>
      </p:sp>
      <p:sp>
        <p:nvSpPr>
          <p:cNvPr id="17420" name="Right Arrow 17419"/>
          <p:cNvSpPr/>
          <p:nvPr/>
        </p:nvSpPr>
        <p:spPr>
          <a:xfrm>
            <a:off x="6366510" y="2679192"/>
            <a:ext cx="182880" cy="237744"/>
          </a:xfrm>
          <a:prstGeom prst="rightArrow">
            <a:avLst/>
          </a:prstGeom>
          <a:solidFill>
            <a:srgbClr val="596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sp>
        <p:nvSpPr>
          <p:cNvPr id="17421" name="Rounded Rectangle 17420"/>
          <p:cNvSpPr/>
          <p:nvPr/>
        </p:nvSpPr>
        <p:spPr>
          <a:xfrm>
            <a:off x="6585966" y="2468880"/>
            <a:ext cx="1575054" cy="658368"/>
          </a:xfrm>
          <a:prstGeom prst="roundRect">
            <a:avLst>
              <a:gd name="adj" fmla="val 15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 wrap="square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2  PULSE forecast</a:t>
            </a:r>
          </a:p>
          <a:p>
            <a:pPr algn="ctr">
              <a:spcAft>
                <a:spcPts val="20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LightGBM + TFT</a:t>
            </a:r>
          </a:p>
        </p:txBody>
      </p:sp>
      <p:sp>
        <p:nvSpPr>
          <p:cNvPr id="17422" name="Right Arrow 17421"/>
          <p:cNvSpPr/>
          <p:nvPr/>
        </p:nvSpPr>
        <p:spPr>
          <a:xfrm>
            <a:off x="8197596" y="2679192"/>
            <a:ext cx="182880" cy="237744"/>
          </a:xfrm>
          <a:prstGeom prst="rightArrow">
            <a:avLst/>
          </a:prstGeom>
          <a:solidFill>
            <a:srgbClr val="596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sp>
        <p:nvSpPr>
          <p:cNvPr id="17423" name="Rounded Rectangle 17422"/>
          <p:cNvSpPr/>
          <p:nvPr/>
        </p:nvSpPr>
        <p:spPr>
          <a:xfrm>
            <a:off x="8417052" y="2468880"/>
            <a:ext cx="1575054" cy="658368"/>
          </a:xfrm>
          <a:prstGeom prst="roundRect">
            <a:avLst>
              <a:gd name="adj" fmla="val 15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 wrap="square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3  D-CCI capacity</a:t>
            </a:r>
          </a:p>
          <a:p>
            <a:pPr algn="ctr">
              <a:spcAft>
                <a:spcPts val="20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Cifuentes + live factors</a:t>
            </a:r>
          </a:p>
        </p:txBody>
      </p:sp>
      <p:sp>
        <p:nvSpPr>
          <p:cNvPr id="17424" name="Right Arrow 17423"/>
          <p:cNvSpPr/>
          <p:nvPr/>
        </p:nvSpPr>
        <p:spPr>
          <a:xfrm>
            <a:off x="10028682" y="2679192"/>
            <a:ext cx="182880" cy="237744"/>
          </a:xfrm>
          <a:prstGeom prst="rightArrow">
            <a:avLst/>
          </a:prstGeom>
          <a:solidFill>
            <a:srgbClr val="596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sp>
        <p:nvSpPr>
          <p:cNvPr id="17425" name="Rounded Rectangle 17424"/>
          <p:cNvSpPr/>
          <p:nvPr/>
        </p:nvSpPr>
        <p:spPr>
          <a:xfrm>
            <a:off x="10248138" y="2468880"/>
            <a:ext cx="1575054" cy="658368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 wrap="square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4  Load ratio</a:t>
            </a:r>
          </a:p>
          <a:p>
            <a:pPr algn="ctr">
              <a:spcAft>
                <a:spcPts val="20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LR = demand ÷ capacity</a:t>
            </a:r>
          </a:p>
        </p:txBody>
      </p:sp>
      <p:sp>
        <p:nvSpPr>
          <p:cNvPr id="17426" name="Down Arrow 17425"/>
          <p:cNvSpPr/>
          <p:nvPr/>
        </p:nvSpPr>
        <p:spPr>
          <a:xfrm>
            <a:off x="10916793" y="3154680"/>
            <a:ext cx="237744" cy="237744"/>
          </a:xfrm>
          <a:prstGeom prst="downArrow">
            <a:avLst/>
          </a:prstGeom>
          <a:solidFill>
            <a:srgbClr val="596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sp>
        <p:nvSpPr>
          <p:cNvPr id="17427" name="Rounded Rectangle 17426"/>
          <p:cNvSpPr/>
          <p:nvPr/>
        </p:nvSpPr>
        <p:spPr>
          <a:xfrm>
            <a:off x="9973818" y="3438144"/>
            <a:ext cx="1849374" cy="658368"/>
          </a:xfrm>
          <a:prstGeom prst="roundRect">
            <a:avLst>
              <a:gd name="adj" fmla="val 15000"/>
            </a:avLst>
          </a:prstGeom>
          <a:solidFill>
            <a:srgbClr val="FDF0E2"/>
          </a:solidFill>
          <a:ln w="12700">
            <a:solidFill>
              <a:srgbClr val="E877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 wrap="square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D64545"/>
                </a:solidFill>
                <a:latin typeface="Arial"/>
              </a:rPr>
              <a:t>RED (LR &gt; 1)?</a:t>
            </a:r>
          </a:p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1C2733"/>
                </a:solidFill>
                <a:latin typeface="Arial"/>
              </a:rPr>
              <a:t>GREEN / AMBER → normal booking</a:t>
            </a:r>
          </a:p>
        </p:txBody>
      </p:sp>
      <p:sp>
        <p:nvSpPr>
          <p:cNvPr id="17428" name="Left Arrow 17427"/>
          <p:cNvSpPr/>
          <p:nvPr/>
        </p:nvSpPr>
        <p:spPr>
          <a:xfrm>
            <a:off x="9681210" y="3648456"/>
            <a:ext cx="256032" cy="237744"/>
          </a:xfrm>
          <a:prstGeom prst="leftArrow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sp>
        <p:nvSpPr>
          <p:cNvPr id="17429" name="Rounded Rectangle 17428"/>
          <p:cNvSpPr/>
          <p:nvPr/>
        </p:nvSpPr>
        <p:spPr>
          <a:xfrm>
            <a:off x="4754880" y="3438144"/>
            <a:ext cx="4889754" cy="658368"/>
          </a:xfrm>
          <a:prstGeom prst="roundRect">
            <a:avLst>
              <a:gd name="adj" fmla="val 15000"/>
            </a:avLst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 wrap="square"/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5  BALANCE: twin similarity → min-cost-flow allocation (≤ 80% twin capacity) → learned incentive</a:t>
            </a:r>
          </a:p>
        </p:txBody>
      </p:sp>
      <p:sp>
        <p:nvSpPr>
          <p:cNvPr id="17430" name="Down Arrow 17429"/>
          <p:cNvSpPr/>
          <p:nvPr/>
        </p:nvSpPr>
        <p:spPr>
          <a:xfrm>
            <a:off x="6734556" y="4133087"/>
            <a:ext cx="237744" cy="219456"/>
          </a:xfrm>
          <a:prstGeom prst="downArrow">
            <a:avLst/>
          </a:prstGeom>
          <a:solidFill>
            <a:srgbClr val="596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sp>
        <p:nvSpPr>
          <p:cNvPr id="17431" name="Rounded Rectangle 17430"/>
          <p:cNvSpPr/>
          <p:nvPr/>
        </p:nvSpPr>
        <p:spPr>
          <a:xfrm>
            <a:off x="4754880" y="4389120"/>
            <a:ext cx="2264664" cy="548640"/>
          </a:xfrm>
          <a:prstGeom prst="roundRect">
            <a:avLst>
              <a:gd name="adj" fmla="val 15000"/>
            </a:avLst>
          </a:prstGeom>
          <a:solidFill>
            <a:srgbClr val="E6F4EC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 wrap="square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2E8B57"/>
                </a:solidFill>
                <a:latin typeface="Arial"/>
              </a:rPr>
              <a:t>Traveller PWA</a:t>
            </a:r>
          </a:p>
          <a:p>
            <a:pPr algn="ctr">
              <a:spcAft>
                <a:spcPts val="200"/>
              </a:spcAft>
            </a:pPr>
            <a:r>
              <a:rPr sz="950" b="0" i="0">
                <a:solidFill>
                  <a:srgbClr val="1C2733"/>
                </a:solidFill>
                <a:latin typeface="Arial"/>
              </a:rPr>
              <a:t>forecast · twins · booking · alerts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7156704" y="4389120"/>
            <a:ext cx="2264664" cy="548640"/>
          </a:xfrm>
          <a:prstGeom prst="roundRect">
            <a:avLst>
              <a:gd name="adj" fmla="val 15000"/>
            </a:avLst>
          </a:prstGeom>
          <a:solidFill>
            <a:srgbClr val="E6F4EC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 wrap="square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2E8B57"/>
                </a:solidFill>
                <a:latin typeface="Arial"/>
              </a:rPr>
              <a:t>Host WhatsApp</a:t>
            </a:r>
          </a:p>
          <a:p>
            <a:pPr algn="ctr">
              <a:spcAft>
                <a:spcPts val="200"/>
              </a:spcAft>
            </a:pPr>
            <a:r>
              <a:rPr sz="950" b="0" i="0">
                <a:solidFill>
                  <a:srgbClr val="1C2733"/>
                </a:solidFill>
                <a:latin typeface="Arial"/>
              </a:rPr>
              <a:t>listing · demand outlook · price tips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9558528" y="4389120"/>
            <a:ext cx="2264664" cy="548640"/>
          </a:xfrm>
          <a:prstGeom prst="roundRect">
            <a:avLst>
              <a:gd name="adj" fmla="val 15000"/>
            </a:avLst>
          </a:prstGeom>
          <a:solidFill>
            <a:srgbClr val="E6F4EC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 wrap="square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2E8B57"/>
                </a:solidFill>
                <a:latin typeface="Arial"/>
              </a:rPr>
              <a:t>DRISHTI dashboard</a:t>
            </a:r>
          </a:p>
          <a:p>
            <a:pPr algn="ctr">
              <a:spcAft>
                <a:spcPts val="200"/>
              </a:spcAft>
            </a:pPr>
            <a:r>
              <a:rPr sz="950" b="0" i="0">
                <a:solidFill>
                  <a:srgbClr val="1C2733"/>
                </a:solidFill>
                <a:latin typeface="Arial"/>
              </a:rPr>
              <a:t>heatmap · simulator · reports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4754880" y="5047488"/>
            <a:ext cx="7068312" cy="25603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F3864"/>
                </a:solidFill>
                <a:latin typeface="Arial"/>
              </a:rPr>
              <a:t>36-hour prototype plan (Kullu-Manali cluster + 4 twins, public + simulated data)</a:t>
            </a:r>
          </a:p>
        </p:txBody>
      </p:sp>
      <p:sp>
        <p:nvSpPr>
          <p:cNvPr id="17435" name="Pentagon 17434"/>
          <p:cNvSpPr/>
          <p:nvPr/>
        </p:nvSpPr>
        <p:spPr>
          <a:xfrm>
            <a:off x="4754880" y="5340096"/>
            <a:ext cx="1472184" cy="530352"/>
          </a:xfrm>
          <a:prstGeom prst="homePlat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27432" bIns="27432" wrap="square"/>
          <a:lstStyle/>
          <a:p>
            <a:pPr algn="ctr"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0–4 h  Data &amp; setup</a:t>
            </a:r>
          </a:p>
        </p:txBody>
      </p:sp>
      <p:sp>
        <p:nvSpPr>
          <p:cNvPr id="17436" name="Chevron 17435"/>
          <p:cNvSpPr/>
          <p:nvPr/>
        </p:nvSpPr>
        <p:spPr>
          <a:xfrm>
            <a:off x="6153912" y="5340096"/>
            <a:ext cx="1472184" cy="530352"/>
          </a:xfrm>
          <a:prstGeom prst="chevron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27432" bIns="27432" wrap="square"/>
          <a:lstStyle/>
          <a:p>
            <a:pPr algn="ctr"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4–12 h  Models &amp; APIs</a:t>
            </a:r>
          </a:p>
        </p:txBody>
      </p:sp>
      <p:sp>
        <p:nvSpPr>
          <p:cNvPr id="17437" name="Chevron 17436"/>
          <p:cNvSpPr/>
          <p:nvPr/>
        </p:nvSpPr>
        <p:spPr>
          <a:xfrm>
            <a:off x="7552944" y="5340096"/>
            <a:ext cx="1472184" cy="530352"/>
          </a:xfrm>
          <a:prstGeom prst="chevron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27432" bIns="27432" wrap="square"/>
          <a:lstStyle/>
          <a:p>
            <a:pPr algn="ctr"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12–20 h  Twins &amp; ONDC</a:t>
            </a:r>
          </a:p>
        </p:txBody>
      </p:sp>
      <p:sp>
        <p:nvSpPr>
          <p:cNvPr id="17438" name="Chevron 17437"/>
          <p:cNvSpPr/>
          <p:nvPr/>
        </p:nvSpPr>
        <p:spPr>
          <a:xfrm>
            <a:off x="8951976" y="5340096"/>
            <a:ext cx="1472184" cy="530352"/>
          </a:xfrm>
          <a:prstGeom prst="chevron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27432" bIns="27432" wrap="square"/>
          <a:lstStyle/>
          <a:p>
            <a:pPr algn="ctr"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20–28 h  Safety &amp; simulator</a:t>
            </a:r>
          </a:p>
        </p:txBody>
      </p:sp>
      <p:sp>
        <p:nvSpPr>
          <p:cNvPr id="17439" name="Chevron 17438"/>
          <p:cNvSpPr/>
          <p:nvPr/>
        </p:nvSpPr>
        <p:spPr>
          <a:xfrm>
            <a:off x="10351008" y="5340096"/>
            <a:ext cx="1472184" cy="530352"/>
          </a:xfrm>
          <a:prstGeom prst="chevron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27432" bIns="27432" wrap="square"/>
          <a:lstStyle/>
          <a:p>
            <a:pPr algn="ctr"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28–36 h  Test &amp; demo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365760" y="5943600"/>
            <a:ext cx="114300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96572"/>
                </a:solidFill>
                <a:latin typeface="Arial"/>
              </a:rPr>
              <a:t>D-CCI = PCC × Π(1 − correction factors) × management capacity;  status: </a:t>
            </a:r>
            <a:r>
              <a:rPr sz="1000" b="1" i="0">
                <a:solidFill>
                  <a:srgbClr val="2E8B57"/>
                </a:solidFill>
                <a:latin typeface="Arial"/>
              </a:rPr>
              <a:t>GREEN &lt; 0.8</a:t>
            </a:r>
            <a:r>
              <a:rPr sz="1000" b="0" i="0">
                <a:solidFill>
                  <a:srgbClr val="596572"/>
                </a:solidFill>
                <a:latin typeface="Arial"/>
              </a:rPr>
              <a:t>  ·  </a:t>
            </a:r>
            <a:r>
              <a:rPr sz="1000" b="1" i="0">
                <a:solidFill>
                  <a:srgbClr val="E0A800"/>
                </a:solidFill>
                <a:latin typeface="Arial"/>
              </a:rPr>
              <a:t>AMBER 0.8–1</a:t>
            </a:r>
            <a:r>
              <a:rPr sz="1000" b="0" i="0">
                <a:solidFill>
                  <a:srgbClr val="596572"/>
                </a:solidFill>
                <a:latin typeface="Arial"/>
              </a:rPr>
              <a:t>  ·  </a:t>
            </a:r>
            <a:r>
              <a:rPr sz="1000" b="1" i="0">
                <a:solidFill>
                  <a:srgbClr val="D64545"/>
                </a:solidFill>
                <a:latin typeface="Arial"/>
              </a:rPr>
              <a:t>RED &gt; 1</a:t>
            </a:r>
            <a:r>
              <a:rPr sz="1000" b="0" i="0">
                <a:solidFill>
                  <a:srgbClr val="596572"/>
                </a:solidFill>
                <a:latin typeface="Arial"/>
              </a:rPr>
              <a:t>  ·  </a:t>
            </a:r>
            <a:r>
              <a:rPr sz="1000" b="1" i="0">
                <a:solidFill>
                  <a:srgbClr val="2B2B2B"/>
                </a:solidFill>
                <a:latin typeface="Arial"/>
              </a:rPr>
              <a:t>BLACK = hazard / closed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0" rIns="0"/>
          <a:lstStyle/>
          <a:p>
            <a:pPr algn="ctr"/>
            <a:r>
              <a:rPr lang="en-US" dirty="0" b="1" sz="1300"/>
              <a:t>PRAHARI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0" name="Rounded Rectangle 17409"/>
          <p:cNvSpPr/>
          <p:nvPr/>
        </p:nvSpPr>
        <p:spPr>
          <a:xfrm>
            <a:off x="365760" y="1188720"/>
            <a:ext cx="11457432" cy="310896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27432" bIns="27432" wrap="square"/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E87722"/>
                </a:solidFill>
                <a:latin typeface="Arial"/>
              </a:rPr>
              <a:t>❖  </a:t>
            </a:r>
            <a:r>
              <a:rPr sz="1200" b="1" i="0">
                <a:solidFill>
                  <a:srgbClr val="FFFFFF"/>
                </a:solidFill>
                <a:latin typeface="Arial"/>
              </a:rPr>
              <a:t>Analysis of the feasibility of the idea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65760" y="1627632"/>
            <a:ext cx="2727198" cy="1371600"/>
          </a:xfrm>
          <a:prstGeom prst="roundRect">
            <a:avLst>
              <a:gd name="adj" fmla="val 10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sp>
        <p:nvSpPr>
          <p:cNvPr id="17412" name="Oval 17411"/>
          <p:cNvSpPr/>
          <p:nvPr/>
        </p:nvSpPr>
        <p:spPr>
          <a:xfrm>
            <a:off x="475488" y="1719072"/>
            <a:ext cx="420624" cy="420624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pic>
        <p:nvPicPr>
          <p:cNvPr id="17413" name="Picture 17412" descr="te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437" y="1820021"/>
            <a:ext cx="218724" cy="218724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969264" y="1719072"/>
            <a:ext cx="2041398" cy="42062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0070C0"/>
                </a:solidFill>
                <a:latin typeface="Arial"/>
              </a:rPr>
              <a:t>Technical ✔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475488" y="2212848"/>
            <a:ext cx="2544318" cy="7772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marL="155448" indent="-155448"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050" b="0" i="0">
                <a:solidFill>
                  <a:srgbClr val="1C2733"/>
                </a:solidFill>
                <a:latin typeface="Arial"/>
              </a:rPr>
              <a:t>Proven open-source stack</a:t>
            </a:r>
          </a:p>
          <a:p>
            <a:pPr algn="l" marL="155448" indent="-155448"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050" b="0" i="0">
                <a:solidFill>
                  <a:srgbClr val="1C2733"/>
                </a:solidFill>
                <a:latin typeface="Arial"/>
              </a:rPr>
              <a:t>Well-established ML models</a:t>
            </a:r>
          </a:p>
          <a:p>
            <a:pPr algn="l" marL="155448" indent="-155448"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050" b="0" i="0">
                <a:solidFill>
                  <a:srgbClr val="1C2733"/>
                </a:solidFill>
                <a:latin typeface="Arial"/>
              </a:rPr>
              <a:t>Prototype fits in 36 h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3275838" y="1627632"/>
            <a:ext cx="2727198" cy="13716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sp>
        <p:nvSpPr>
          <p:cNvPr id="17417" name="Oval 17416"/>
          <p:cNvSpPr/>
          <p:nvPr/>
        </p:nvSpPr>
        <p:spPr>
          <a:xfrm>
            <a:off x="3385566" y="1719072"/>
            <a:ext cx="420624" cy="420624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pic>
        <p:nvPicPr>
          <p:cNvPr id="17418" name="Picture 17417" descr="dat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6515" y="1820021"/>
            <a:ext cx="218724" cy="218724"/>
          </a:xfrm>
          <a:prstGeom prst="rect">
            <a:avLst/>
          </a:prstGeom>
        </p:spPr>
      </p:pic>
      <p:sp>
        <p:nvSpPr>
          <p:cNvPr id="17419" name="TextBox 17418"/>
          <p:cNvSpPr txBox="1"/>
          <p:nvPr/>
        </p:nvSpPr>
        <p:spPr>
          <a:xfrm>
            <a:off x="3879341" y="1719072"/>
            <a:ext cx="2041398" cy="42062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Data &amp; APIs ✔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3385566" y="2212848"/>
            <a:ext cx="2544318" cy="7772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marL="155448" indent="-155448">
              <a:spcAft>
                <a:spcPts val="200"/>
              </a:spcAft>
              <a:buClr>
                <a:srgbClr val="1F3864"/>
              </a:buClr>
              <a:buFont typeface="Arial"/>
              <a:buChar char="•"/>
            </a:pPr>
            <a:r>
              <a:rPr sz="1050" b="0" i="0">
                <a:solidFill>
                  <a:srgbClr val="1C2733"/>
                </a:solidFill>
                <a:latin typeface="Arial"/>
              </a:rPr>
              <a:t>Public data: Tourism Statistics, ASI, IMD, holidays</a:t>
            </a:r>
          </a:p>
          <a:p>
            <a:pPr algn="l" marL="155448" indent="-155448">
              <a:spcAft>
                <a:spcPts val="200"/>
              </a:spcAft>
              <a:buClr>
                <a:srgbClr val="1F3864"/>
              </a:buClr>
              <a:buFont typeface="Arial"/>
              <a:buChar char="•"/>
            </a:pPr>
            <a:r>
              <a:rPr sz="1050" b="0" i="0">
                <a:solidFill>
                  <a:srgbClr val="1C2733"/>
                </a:solidFill>
                <a:latin typeface="Arial"/>
              </a:rPr>
              <a:t>ONDC · Bhashini · UPI sandboxes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6185916" y="1627632"/>
            <a:ext cx="2727198" cy="1371600"/>
          </a:xfrm>
          <a:prstGeom prst="roundRect">
            <a:avLst>
              <a:gd name="adj" fmla="val 1000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sp>
        <p:nvSpPr>
          <p:cNvPr id="17422" name="Oval 17421"/>
          <p:cNvSpPr/>
          <p:nvPr/>
        </p:nvSpPr>
        <p:spPr>
          <a:xfrm>
            <a:off x="6295644" y="1719072"/>
            <a:ext cx="420624" cy="420624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pic>
        <p:nvPicPr>
          <p:cNvPr id="17423" name="Picture 17422" descr="economi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6593" y="1820021"/>
            <a:ext cx="218724" cy="218724"/>
          </a:xfrm>
          <a:prstGeom prst="rect">
            <a:avLst/>
          </a:prstGeom>
        </p:spPr>
      </p:pic>
      <p:sp>
        <p:nvSpPr>
          <p:cNvPr id="17424" name="TextBox 17423"/>
          <p:cNvSpPr txBox="1"/>
          <p:nvPr/>
        </p:nvSpPr>
        <p:spPr>
          <a:xfrm>
            <a:off x="6789420" y="1719072"/>
            <a:ext cx="2041398" cy="42062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E8B57"/>
                </a:solidFill>
                <a:latin typeface="Arial"/>
              </a:rPr>
              <a:t>Economic ✔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6295644" y="2212848"/>
            <a:ext cx="2544318" cy="7772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marL="155448" indent="-155448">
              <a:spcAft>
                <a:spcPts val="200"/>
              </a:spcAft>
              <a:buClr>
                <a:srgbClr val="2E8B57"/>
              </a:buClr>
              <a:buFont typeface="Arial"/>
              <a:buChar char="•"/>
            </a:pPr>
            <a:r>
              <a:rPr sz="1050" b="0" i="0">
                <a:solidFill>
                  <a:srgbClr val="1C2733"/>
                </a:solidFill>
                <a:latin typeface="Arial"/>
              </a:rPr>
              <a:t>District pilot ≈ ₹30–40 lakh / year</a:t>
            </a:r>
          </a:p>
          <a:p>
            <a:pPr algn="l" marL="155448" indent="-155448">
              <a:spcAft>
                <a:spcPts val="200"/>
              </a:spcAft>
              <a:buClr>
                <a:srgbClr val="2E8B57"/>
              </a:buClr>
              <a:buFont typeface="Arial"/>
              <a:buChar char="•"/>
            </a:pPr>
            <a:r>
              <a:rPr sz="1050" b="0" i="0">
                <a:solidFill>
                  <a:srgbClr val="1C2733"/>
                </a:solidFill>
                <a:latin typeface="Arial"/>
              </a:rPr>
              <a:t>5% of one peak weekend retained ≈ ₹2 Cr*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9095994" y="1627632"/>
            <a:ext cx="2727198" cy="1371600"/>
          </a:xfrm>
          <a:prstGeom prst="roundRect">
            <a:avLst>
              <a:gd name="adj" fmla="val 10000"/>
            </a:avLst>
          </a:prstGeom>
          <a:solidFill>
            <a:srgbClr val="FD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sp>
        <p:nvSpPr>
          <p:cNvPr id="17427" name="Oval 17426"/>
          <p:cNvSpPr/>
          <p:nvPr/>
        </p:nvSpPr>
        <p:spPr>
          <a:xfrm>
            <a:off x="9205722" y="1719072"/>
            <a:ext cx="420624" cy="420624"/>
          </a:xfrm>
          <a:prstGeom prst="ellipse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pic>
        <p:nvPicPr>
          <p:cNvPr id="17428" name="Picture 17427" descr="op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06671" y="1820021"/>
            <a:ext cx="218724" cy="218724"/>
          </a:xfrm>
          <a:prstGeom prst="rect">
            <a:avLst/>
          </a:prstGeom>
        </p:spPr>
      </p:pic>
      <p:sp>
        <p:nvSpPr>
          <p:cNvPr id="17429" name="TextBox 17428"/>
          <p:cNvSpPr txBox="1"/>
          <p:nvPr/>
        </p:nvSpPr>
        <p:spPr>
          <a:xfrm>
            <a:off x="9699498" y="1719072"/>
            <a:ext cx="2041398" cy="42062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E87722"/>
                </a:solidFill>
                <a:latin typeface="Arial"/>
              </a:rPr>
              <a:t>Operational ✔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9205722" y="2212848"/>
            <a:ext cx="2544318" cy="7772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marL="155448" indent="-155448">
              <a:spcAft>
                <a:spcPts val="200"/>
              </a:spcAft>
              <a:buClr>
                <a:srgbClr val="E87722"/>
              </a:buClr>
              <a:buFont typeface="Arial"/>
              <a:buChar char="•"/>
            </a:pPr>
            <a:r>
              <a:rPr sz="1050" b="0" i="0">
                <a:solidFill>
                  <a:srgbClr val="1C2733"/>
                </a:solidFill>
                <a:latin typeface="Arial"/>
              </a:rPr>
              <a:t>WhatsApp-first, zero joining fee</a:t>
            </a:r>
          </a:p>
          <a:p>
            <a:pPr algn="l" marL="155448" indent="-155448">
              <a:spcAft>
                <a:spcPts val="200"/>
              </a:spcAft>
              <a:buClr>
                <a:srgbClr val="E87722"/>
              </a:buClr>
              <a:buFont typeface="Arial"/>
              <a:buChar char="•"/>
            </a:pPr>
            <a:r>
              <a:rPr sz="1050" b="0" i="0">
                <a:solidFill>
                  <a:srgbClr val="1C2733"/>
                </a:solidFill>
                <a:latin typeface="Arial"/>
              </a:rPr>
              <a:t>Fits e-pass, NIDHI &amp; portal workflows</a:t>
            </a:r>
          </a:p>
        </p:txBody>
      </p:sp>
      <p:sp>
        <p:nvSpPr>
          <p:cNvPr id="17431" name="Pentagon 17430"/>
          <p:cNvSpPr/>
          <p:nvPr/>
        </p:nvSpPr>
        <p:spPr>
          <a:xfrm>
            <a:off x="365760" y="3108960"/>
            <a:ext cx="2932938" cy="530352"/>
          </a:xfrm>
          <a:prstGeom prst="homePlat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" bIns="27432" wrap="square"/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36 hours:  </a:t>
            </a:r>
            <a:r>
              <a:rPr sz="1050" b="0" i="0">
                <a:solidFill>
                  <a:srgbClr val="FFFFFF"/>
                </a:solidFill>
                <a:latin typeface="Arial"/>
              </a:rPr>
              <a:t>Working prototype</a:t>
            </a:r>
          </a:p>
        </p:txBody>
      </p:sp>
      <p:sp>
        <p:nvSpPr>
          <p:cNvPr id="17432" name="Chevron 17431"/>
          <p:cNvSpPr/>
          <p:nvPr/>
        </p:nvSpPr>
        <p:spPr>
          <a:xfrm>
            <a:off x="3207258" y="3108960"/>
            <a:ext cx="2932938" cy="530352"/>
          </a:xfrm>
          <a:prstGeom prst="chevron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" bIns="27432" wrap="square"/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0–9 months:  </a:t>
            </a:r>
            <a:r>
              <a:rPr sz="1050" b="0" i="0">
                <a:solidFill>
                  <a:srgbClr val="FFFFFF"/>
                </a:solidFill>
                <a:latin typeface="Arial"/>
              </a:rPr>
              <a:t>District pilot: Kullu-Manali, Nilgiris</a:t>
            </a:r>
          </a:p>
        </p:txBody>
      </p:sp>
      <p:sp>
        <p:nvSpPr>
          <p:cNvPr id="17433" name="Chevron 17432"/>
          <p:cNvSpPr/>
          <p:nvPr/>
        </p:nvSpPr>
        <p:spPr>
          <a:xfrm>
            <a:off x="6048756" y="3108960"/>
            <a:ext cx="2932938" cy="530352"/>
          </a:xfrm>
          <a:prstGeom prst="chevron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" bIns="27432" wrap="square"/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9–18 months:  </a:t>
            </a:r>
            <a:r>
              <a:rPr sz="1050" b="0" i="0">
                <a:solidFill>
                  <a:srgbClr val="FFFFFF"/>
                </a:solidFill>
                <a:latin typeface="Arial"/>
              </a:rPr>
              <a:t>3–5 states as SaaS tenants</a:t>
            </a:r>
          </a:p>
        </p:txBody>
      </p:sp>
      <p:sp>
        <p:nvSpPr>
          <p:cNvPr id="17434" name="Chevron 17433"/>
          <p:cNvSpPr/>
          <p:nvPr/>
        </p:nvSpPr>
        <p:spPr>
          <a:xfrm>
            <a:off x="8890254" y="3108960"/>
            <a:ext cx="2932938" cy="530352"/>
          </a:xfrm>
          <a:prstGeom prst="chevron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" bIns="27432" wrap="square"/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18–36 months:  </a:t>
            </a:r>
            <a:r>
              <a:rPr sz="1050" b="0" i="0">
                <a:solidFill>
                  <a:srgbClr val="FFFFFF"/>
                </a:solidFill>
                <a:latin typeface="Arial"/>
              </a:rPr>
              <a:t>National tourism DPI</a:t>
            </a:r>
          </a:p>
        </p:txBody>
      </p:sp>
      <p:graphicFrame>
        <p:nvGraphicFramePr>
          <p:cNvPr id="17435" name="Table 17434"/>
          <p:cNvGraphicFramePr>
            <a:graphicFrameLocks noGrp="1"/>
          </p:cNvGraphicFramePr>
          <p:nvPr/>
        </p:nvGraphicFramePr>
        <p:xfrm>
          <a:off x="365760" y="3767328"/>
          <a:ext cx="11457431" cy="23591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749039"/>
                <a:gridCol w="7708392"/>
              </a:tblGrid>
              <a:tr h="393192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Potential challenges and risks</a:t>
                      </a:r>
                    </a:p>
                  </a:txBody>
                  <a:tcPr marL="73152" marR="73152" marT="27432" marB="27432" anchor="ctr">
                    <a:solidFill>
                      <a:srgbClr val="D64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Strategies for overcoming these challenges</a:t>
                      </a:r>
                    </a:p>
                  </a:txBody>
                  <a:tcPr marL="73152" marR="73152" marT="27432" marB="27432" anchor="ctr">
                    <a:solidFill>
                      <a:srgbClr val="2E8B57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D64545"/>
                          </a:solidFill>
                          <a:latin typeface="Arial"/>
                        </a:rPr>
                        <a:t>Sparse daily footfall data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C2733"/>
                          </a:solidFill>
                          <a:latin typeface="Arial"/>
                        </a:rPr>
                        <a:t>Proxy signals (permits, bookings, search) + cold-start transfer learning + state data MoUs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D64545"/>
                          </a:solidFill>
                          <a:latin typeface="Arial"/>
                        </a:rPr>
                        <a:t>Low digital adoption by small hosts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C2733"/>
                          </a:solidFill>
                          <a:latin typeface="Arial"/>
                        </a:rPr>
                        <a:t>WhatsApp &amp; voice onboarding in local language, zero fee, camps with SHGs &amp; district offices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D64545"/>
                          </a:solidFill>
                          <a:latin typeface="Arial"/>
                        </a:rPr>
                        <a:t>Travellers ignore suggestions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C2733"/>
                          </a:solidFill>
                          <a:latin typeface="Arial"/>
                        </a:rPr>
                        <a:t>Learned incentives, honest delay estimates, twin offers at the e-pass stage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D64545"/>
                          </a:solidFill>
                          <a:latin typeface="Arial"/>
                        </a:rPr>
                        <a:t>Crowd just shifts to a fragile village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C2733"/>
                          </a:solidFill>
                          <a:latin typeface="Arial"/>
                        </a:rPr>
                        <a:t>Hard cap at 80% of twin capacity + community consent before listing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D64545"/>
                          </a:solidFill>
                          <a:latin typeface="Arial"/>
                        </a:rPr>
                        <a:t>Govt. API dependency &amp; privacy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C2733"/>
                          </a:solidFill>
                          <a:latin typeface="Arial"/>
                        </a:rPr>
                        <a:t>Modular adapters with cached fallbacks; aggregate-only data, DPDP Act 2023 compliant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436" name="TextBox 17435"/>
          <p:cNvSpPr txBox="1"/>
          <p:nvPr/>
        </p:nvSpPr>
        <p:spPr>
          <a:xfrm>
            <a:off x="365760" y="6144768"/>
            <a:ext cx="1143000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596572"/>
                </a:solidFill>
                <a:latin typeface="Arial"/>
              </a:rPr>
              <a:t>*Indicative estimate: 1 lakh peak-weekend visitors × ₹4,000 spend; to be validated in the pilot.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0" rIns="0"/>
          <a:lstStyle/>
          <a:p>
            <a:pPr algn="ctr"/>
            <a:r>
              <a:rPr lang="en-US" dirty="0" b="1" sz="1300"/>
              <a:t>PRAHARI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0" name="Rounded Rectangle 17409"/>
          <p:cNvSpPr/>
          <p:nvPr/>
        </p:nvSpPr>
        <p:spPr>
          <a:xfrm>
            <a:off x="365760" y="1188720"/>
            <a:ext cx="11457432" cy="310896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27432" bIns="27432" wrap="square"/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E87722"/>
                </a:solidFill>
                <a:latin typeface="Arial"/>
              </a:rPr>
              <a:t>❖  </a:t>
            </a:r>
            <a:r>
              <a:rPr sz="1200" b="1" i="0">
                <a:solidFill>
                  <a:srgbClr val="FFFFFF"/>
                </a:solidFill>
                <a:latin typeface="Arial"/>
              </a:rPr>
              <a:t>Potential impact on the target audience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65760" y="1609344"/>
            <a:ext cx="3666744" cy="178308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sp>
        <p:nvSpPr>
          <p:cNvPr id="17412" name="Oval 17411"/>
          <p:cNvSpPr/>
          <p:nvPr/>
        </p:nvSpPr>
        <p:spPr>
          <a:xfrm>
            <a:off x="502920" y="1719072"/>
            <a:ext cx="502920" cy="50292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pic>
        <p:nvPicPr>
          <p:cNvPr id="17413" name="Picture 17412" descr="travell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620" y="1839772"/>
            <a:ext cx="261518" cy="261518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1097280" y="1719072"/>
            <a:ext cx="1737360" cy="50292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0070C0"/>
                </a:solidFill>
                <a:latin typeface="Arial"/>
              </a:rPr>
              <a:t>Travellers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502920" y="2286000"/>
            <a:ext cx="1783080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1F3864"/>
                </a:solidFill>
                <a:latin typeface="Arial"/>
              </a:rPr>
              <a:t>7–14 days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502920" y="2743200"/>
            <a:ext cx="1783080" cy="548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96572"/>
                </a:solidFill>
                <a:latin typeface="Arial"/>
              </a:rPr>
              <a:t>early warning of crowds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2331720" y="2304288"/>
            <a:ext cx="1609343" cy="1051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marL="155448" indent="-155448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050" b="0" i="0">
                <a:solidFill>
                  <a:srgbClr val="1C2733"/>
                </a:solidFill>
                <a:latin typeface="Arial"/>
              </a:rPr>
              <a:t>Less traffic &amp; queues</a:t>
            </a:r>
          </a:p>
          <a:p>
            <a:pPr algn="l" marL="155448" indent="-155448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050" b="0" i="0">
                <a:solidFill>
                  <a:srgbClr val="1C2733"/>
                </a:solidFill>
                <a:latin typeface="Arial"/>
              </a:rPr>
              <a:t>Verified stays, fair prices</a:t>
            </a:r>
          </a:p>
          <a:p>
            <a:pPr algn="l" marL="155448" indent="-155448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050" b="0" i="0">
                <a:solidFill>
                  <a:srgbClr val="1C2733"/>
                </a:solidFill>
                <a:latin typeface="Arial"/>
              </a:rPr>
              <a:t>Alerts + one-tap SOS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4261104" y="1609344"/>
            <a:ext cx="3666744" cy="1783080"/>
          </a:xfrm>
          <a:prstGeom prst="roundRect">
            <a:avLst>
              <a:gd name="adj" fmla="val 8000"/>
            </a:avLst>
          </a:prstGeom>
          <a:solidFill>
            <a:srgbClr val="FD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sp>
        <p:nvSpPr>
          <p:cNvPr id="17419" name="Oval 17418"/>
          <p:cNvSpPr/>
          <p:nvPr/>
        </p:nvSpPr>
        <p:spPr>
          <a:xfrm>
            <a:off x="4398264" y="1719072"/>
            <a:ext cx="502920" cy="502920"/>
          </a:xfrm>
          <a:prstGeom prst="ellipse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pic>
        <p:nvPicPr>
          <p:cNvPr id="17420" name="Picture 17419" descr="hote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8964" y="1839772"/>
            <a:ext cx="261518" cy="261518"/>
          </a:xfrm>
          <a:prstGeom prst="rect">
            <a:avLst/>
          </a:prstGeom>
        </p:spPr>
      </p:pic>
      <p:sp>
        <p:nvSpPr>
          <p:cNvPr id="17421" name="TextBox 17420"/>
          <p:cNvSpPr txBox="1"/>
          <p:nvPr/>
        </p:nvSpPr>
        <p:spPr>
          <a:xfrm>
            <a:off x="4992624" y="1719072"/>
            <a:ext cx="1737360" cy="50292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E87722"/>
                </a:solidFill>
                <a:latin typeface="Arial"/>
              </a:rPr>
              <a:t>Hotels &amp; homestays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4398264" y="2286000"/>
            <a:ext cx="1783080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1F3864"/>
                </a:solidFill>
                <a:latin typeface="Arial"/>
              </a:rPr>
              <a:t>+10–15 pts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4398264" y="2743200"/>
            <a:ext cx="1783080" cy="548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96572"/>
                </a:solidFill>
                <a:latin typeface="Arial"/>
              </a:rPr>
              <a:t>off-season occupancy*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6227064" y="2304288"/>
            <a:ext cx="1609343" cy="1051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marL="155448" indent="-155448">
              <a:spcAft>
                <a:spcPts val="300"/>
              </a:spcAft>
              <a:buClr>
                <a:srgbClr val="E87722"/>
              </a:buClr>
              <a:buFont typeface="Arial"/>
              <a:buChar char="•"/>
            </a:pPr>
            <a:r>
              <a:rPr sz="1050" b="0" i="0">
                <a:solidFill>
                  <a:srgbClr val="1C2733"/>
                </a:solidFill>
                <a:latin typeface="Arial"/>
              </a:rPr>
              <a:t>Listed in &lt; 10 minutes</a:t>
            </a:r>
          </a:p>
          <a:p>
            <a:pPr algn="l" marL="155448" indent="-155448">
              <a:spcAft>
                <a:spcPts val="300"/>
              </a:spcAft>
              <a:buClr>
                <a:srgbClr val="E87722"/>
              </a:buClr>
              <a:buFont typeface="Arial"/>
              <a:buChar char="•"/>
            </a:pPr>
            <a:r>
              <a:rPr sz="1050" b="0" i="0">
                <a:solidFill>
                  <a:srgbClr val="1C2733"/>
                </a:solidFill>
                <a:latin typeface="Arial"/>
              </a:rPr>
              <a:t>Single-digit fees vs 15–25%</a:t>
            </a:r>
          </a:p>
          <a:p>
            <a:pPr algn="l" marL="155448" indent="-155448">
              <a:spcAft>
                <a:spcPts val="300"/>
              </a:spcAft>
              <a:buClr>
                <a:srgbClr val="E87722"/>
              </a:buClr>
              <a:buFont typeface="Arial"/>
              <a:buChar char="•"/>
            </a:pPr>
            <a:r>
              <a:rPr sz="1050" b="0" i="0">
                <a:solidFill>
                  <a:srgbClr val="1C2733"/>
                </a:solidFill>
                <a:latin typeface="Arial"/>
              </a:rPr>
              <a:t>Weekly demand &amp; price tips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8156448" y="1609344"/>
            <a:ext cx="3666744" cy="1783080"/>
          </a:xfrm>
          <a:prstGeom prst="roundRect">
            <a:avLst>
              <a:gd name="adj" fmla="val 800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sp>
        <p:nvSpPr>
          <p:cNvPr id="17426" name="Oval 17425"/>
          <p:cNvSpPr/>
          <p:nvPr/>
        </p:nvSpPr>
        <p:spPr>
          <a:xfrm>
            <a:off x="8293608" y="1719072"/>
            <a:ext cx="502920" cy="50292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pic>
        <p:nvPicPr>
          <p:cNvPr id="17427" name="Picture 17426" descr="gov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4308" y="1839772"/>
            <a:ext cx="261518" cy="261518"/>
          </a:xfrm>
          <a:prstGeom prst="rect">
            <a:avLst/>
          </a:prstGeom>
        </p:spPr>
      </p:pic>
      <p:sp>
        <p:nvSpPr>
          <p:cNvPr id="17428" name="TextBox 17427"/>
          <p:cNvSpPr txBox="1"/>
          <p:nvPr/>
        </p:nvSpPr>
        <p:spPr>
          <a:xfrm>
            <a:off x="8887968" y="1719072"/>
            <a:ext cx="1737360" cy="50292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E8B57"/>
                </a:solidFill>
                <a:latin typeface="Arial"/>
              </a:rPr>
              <a:t>Tourism departments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8293608" y="2286000"/>
            <a:ext cx="1783080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1F3864"/>
                </a:solidFill>
                <a:latin typeface="Arial"/>
              </a:rPr>
              <a:t>~10 min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8293608" y="2743200"/>
            <a:ext cx="1783080" cy="548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96572"/>
                </a:solidFill>
                <a:latin typeface="Arial"/>
              </a:rPr>
              <a:t>weekly report (was ~2 days)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10122408" y="2304288"/>
            <a:ext cx="1609343" cy="1051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marL="155448" indent="-155448">
              <a:spcAft>
                <a:spcPts val="300"/>
              </a:spcAft>
              <a:buClr>
                <a:srgbClr val="2E8B57"/>
              </a:buClr>
              <a:buFont typeface="Arial"/>
              <a:buChar char="•"/>
            </a:pPr>
            <a:r>
              <a:rPr sz="1050" b="0" i="0">
                <a:solidFill>
                  <a:srgbClr val="1C2733"/>
                </a:solidFill>
                <a:latin typeface="Arial"/>
              </a:rPr>
              <a:t>Plan police, buses, sanitation early</a:t>
            </a:r>
          </a:p>
          <a:p>
            <a:pPr algn="l" marL="155448" indent="-155448">
              <a:spcAft>
                <a:spcPts val="300"/>
              </a:spcAft>
              <a:buClr>
                <a:srgbClr val="2E8B57"/>
              </a:buClr>
              <a:buFont typeface="Arial"/>
              <a:buChar char="•"/>
            </a:pPr>
            <a:r>
              <a:rPr sz="1050" b="0" i="0">
                <a:solidFill>
                  <a:srgbClr val="1C2733"/>
                </a:solidFill>
                <a:latin typeface="Arial"/>
              </a:rPr>
              <a:t>What-if permit simulator</a:t>
            </a:r>
          </a:p>
          <a:p>
            <a:pPr algn="l" marL="155448" indent="-155448">
              <a:spcAft>
                <a:spcPts val="300"/>
              </a:spcAft>
              <a:buClr>
                <a:srgbClr val="2E8B57"/>
              </a:buClr>
              <a:buFont typeface="Arial"/>
              <a:buChar char="•"/>
            </a:pPr>
            <a:r>
              <a:rPr sz="1050" b="0" i="0">
                <a:solidFill>
                  <a:srgbClr val="1C2733"/>
                </a:solidFill>
                <a:latin typeface="Arial"/>
              </a:rPr>
              <a:t>Track scheme outcomes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365760" y="3529584"/>
            <a:ext cx="11457432" cy="310896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27432" bIns="27432" wrap="square"/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E87722"/>
                </a:solidFill>
                <a:latin typeface="Arial"/>
              </a:rPr>
              <a:t>❖  </a:t>
            </a:r>
            <a:r>
              <a:rPr sz="1200" b="1" i="0">
                <a:solidFill>
                  <a:srgbClr val="FFFFFF"/>
                </a:solidFill>
                <a:latin typeface="Arial"/>
              </a:rPr>
              <a:t>Benefits of the solution (social, economic, environmental, etc.)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365760" y="3950208"/>
            <a:ext cx="2727198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sp>
        <p:nvSpPr>
          <p:cNvPr id="17434" name="Oval 17433"/>
          <p:cNvSpPr/>
          <p:nvPr/>
        </p:nvSpPr>
        <p:spPr>
          <a:xfrm>
            <a:off x="475488" y="4041648"/>
            <a:ext cx="420624" cy="420624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pic>
        <p:nvPicPr>
          <p:cNvPr id="17435" name="Picture 17434" descr="soci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437" y="4142597"/>
            <a:ext cx="218724" cy="218724"/>
          </a:xfrm>
          <a:prstGeom prst="rect">
            <a:avLst/>
          </a:prstGeom>
        </p:spPr>
      </p:pic>
      <p:sp>
        <p:nvSpPr>
          <p:cNvPr id="17436" name="TextBox 17435"/>
          <p:cNvSpPr txBox="1"/>
          <p:nvPr/>
        </p:nvSpPr>
        <p:spPr>
          <a:xfrm>
            <a:off x="969264" y="4041648"/>
            <a:ext cx="2068830" cy="42062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0070C0"/>
                </a:solidFill>
                <a:latin typeface="Arial"/>
              </a:rPr>
              <a:t>Social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493776" y="4572000"/>
            <a:ext cx="2507741" cy="13716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marL="155448" indent="-155448"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sz="1200" b="0" i="0">
                <a:solidFill>
                  <a:srgbClr val="1C2733"/>
                </a:solidFill>
                <a:latin typeface="Arial"/>
              </a:rPr>
              <a:t>Income for rural &amp; women-led homestays</a:t>
            </a:r>
          </a:p>
          <a:p>
            <a:pPr algn="l" marL="155448" indent="-155448"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sz="1200" b="0" i="0">
                <a:solidFill>
                  <a:srgbClr val="1C2733"/>
                </a:solidFill>
                <a:latin typeface="Arial"/>
              </a:rPr>
              <a:t>Digital inclusion in 22 languages</a:t>
            </a:r>
          </a:p>
          <a:p>
            <a:pPr algn="l" marL="155448" indent="-155448"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sz="1200" b="0" i="0">
                <a:solidFill>
                  <a:srgbClr val="1C2733"/>
                </a:solidFill>
                <a:latin typeface="Arial"/>
              </a:rPr>
              <a:t>Less resident resentment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3275838" y="3950208"/>
            <a:ext cx="2727198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sp>
        <p:nvSpPr>
          <p:cNvPr id="17439" name="Oval 17438"/>
          <p:cNvSpPr/>
          <p:nvPr/>
        </p:nvSpPr>
        <p:spPr>
          <a:xfrm>
            <a:off x="3385566" y="4041648"/>
            <a:ext cx="420624" cy="420624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pic>
        <p:nvPicPr>
          <p:cNvPr id="17440" name="Picture 17439" descr="economi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86515" y="4142597"/>
            <a:ext cx="218724" cy="218724"/>
          </a:xfrm>
          <a:prstGeom prst="rect">
            <a:avLst/>
          </a:prstGeom>
        </p:spPr>
      </p:pic>
      <p:sp>
        <p:nvSpPr>
          <p:cNvPr id="17441" name="TextBox 17440"/>
          <p:cNvSpPr txBox="1"/>
          <p:nvPr/>
        </p:nvSpPr>
        <p:spPr>
          <a:xfrm>
            <a:off x="3879341" y="4041648"/>
            <a:ext cx="2068830" cy="42062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E8B57"/>
                </a:solidFill>
                <a:latin typeface="Arial"/>
              </a:rPr>
              <a:t>Economic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3403854" y="4572000"/>
            <a:ext cx="2507741" cy="13716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marL="155448" indent="-155448">
              <a:spcAft>
                <a:spcPts val="600"/>
              </a:spcAft>
              <a:buClr>
                <a:srgbClr val="2E8B57"/>
              </a:buClr>
              <a:buFont typeface="Arial"/>
              <a:buChar char="•"/>
            </a:pPr>
            <a:r>
              <a:rPr sz="1200" b="0" i="0">
                <a:solidFill>
                  <a:srgbClr val="1C2733"/>
                </a:solidFill>
                <a:latin typeface="Arial"/>
              </a:rPr>
              <a:t>Visitors redirected, not turned away</a:t>
            </a:r>
          </a:p>
          <a:p>
            <a:pPr algn="l" marL="155448" indent="-155448">
              <a:spcAft>
                <a:spcPts val="600"/>
              </a:spcAft>
              <a:buClr>
                <a:srgbClr val="2E8B57"/>
              </a:buClr>
              <a:buFont typeface="Arial"/>
              <a:buChar char="•"/>
            </a:pPr>
            <a:r>
              <a:rPr sz="1200" b="0" i="0">
                <a:solidFill>
                  <a:srgbClr val="1C2733"/>
                </a:solidFill>
                <a:latin typeface="Arial"/>
              </a:rPr>
              <a:t>Hosts save ₹200–400 per ₹2,000 night</a:t>
            </a:r>
          </a:p>
          <a:p>
            <a:pPr algn="l" marL="155448" indent="-155448">
              <a:spcAft>
                <a:spcPts val="600"/>
              </a:spcAft>
              <a:buClr>
                <a:srgbClr val="2E8B57"/>
              </a:buClr>
              <a:buFont typeface="Arial"/>
              <a:buChar char="•"/>
            </a:pPr>
            <a:r>
              <a:rPr sz="1200" b="0" i="0">
                <a:solidFill>
                  <a:srgbClr val="1C2733"/>
                </a:solidFill>
                <a:latin typeface="Arial"/>
              </a:rPr>
              <a:t>More local spend &amp; GST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6185916" y="3950208"/>
            <a:ext cx="2727198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sp>
        <p:nvSpPr>
          <p:cNvPr id="17444" name="Oval 17443"/>
          <p:cNvSpPr/>
          <p:nvPr/>
        </p:nvSpPr>
        <p:spPr>
          <a:xfrm>
            <a:off x="6295644" y="4041648"/>
            <a:ext cx="420624" cy="420624"/>
          </a:xfrm>
          <a:prstGeom prst="ellipse">
            <a:avLst/>
          </a:prstGeom>
          <a:solidFill>
            <a:srgbClr val="3A7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pic>
        <p:nvPicPr>
          <p:cNvPr id="17445" name="Picture 17444" descr="env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96593" y="4142597"/>
            <a:ext cx="218724" cy="218724"/>
          </a:xfrm>
          <a:prstGeom prst="rect">
            <a:avLst/>
          </a:prstGeom>
        </p:spPr>
      </p:pic>
      <p:sp>
        <p:nvSpPr>
          <p:cNvPr id="17446" name="TextBox 17445"/>
          <p:cNvSpPr txBox="1"/>
          <p:nvPr/>
        </p:nvSpPr>
        <p:spPr>
          <a:xfrm>
            <a:off x="6789420" y="4041648"/>
            <a:ext cx="2068830" cy="42062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3A7D44"/>
                </a:solidFill>
                <a:latin typeface="Arial"/>
              </a:rPr>
              <a:t>Environmental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6313932" y="4572000"/>
            <a:ext cx="2507741" cy="13716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marL="155448" indent="-155448">
              <a:spcAft>
                <a:spcPts val="600"/>
              </a:spcAft>
              <a:buClr>
                <a:srgbClr val="3A7D44"/>
              </a:buClr>
              <a:buFont typeface="Arial"/>
              <a:buChar char="•"/>
            </a:pPr>
            <a:r>
              <a:rPr sz="1200" b="0" i="0">
                <a:solidFill>
                  <a:srgbClr val="1C2733"/>
                </a:solidFill>
                <a:latin typeface="Arial"/>
              </a:rPr>
              <a:t>Fragile hill &amp; coastal spots stay under capacity</a:t>
            </a:r>
          </a:p>
          <a:p>
            <a:pPr algn="l" marL="155448" indent="-155448">
              <a:spcAft>
                <a:spcPts val="600"/>
              </a:spcAft>
              <a:buClr>
                <a:srgbClr val="3A7D44"/>
              </a:buClr>
              <a:buFont typeface="Arial"/>
              <a:buChar char="•"/>
            </a:pPr>
            <a:r>
              <a:rPr sz="1200" b="0" i="0">
                <a:solidFill>
                  <a:srgbClr val="1C2733"/>
                </a:solidFill>
                <a:latin typeface="Arial"/>
              </a:rPr>
              <a:t>Less traffic idling &amp; waste peaks</a:t>
            </a:r>
          </a:p>
          <a:p>
            <a:pPr algn="l" marL="155448" indent="-155448">
              <a:spcAft>
                <a:spcPts val="600"/>
              </a:spcAft>
              <a:buClr>
                <a:srgbClr val="3A7D44"/>
              </a:buClr>
              <a:buFont typeface="Arial"/>
              <a:buChar char="•"/>
            </a:pPr>
            <a:r>
              <a:rPr sz="1200" b="0" i="0">
                <a:solidFill>
                  <a:srgbClr val="1C2733"/>
                </a:solidFill>
                <a:latin typeface="Arial"/>
              </a:rPr>
              <a:t>Longer destination life cycle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9095994" y="3950208"/>
            <a:ext cx="2727198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sp>
        <p:nvSpPr>
          <p:cNvPr id="17449" name="Oval 17448"/>
          <p:cNvSpPr/>
          <p:nvPr/>
        </p:nvSpPr>
        <p:spPr>
          <a:xfrm>
            <a:off x="9205722" y="4041648"/>
            <a:ext cx="420624" cy="420624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pic>
        <p:nvPicPr>
          <p:cNvPr id="17450" name="Picture 17449" descr="kavach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06671" y="4142597"/>
            <a:ext cx="218724" cy="218724"/>
          </a:xfrm>
          <a:prstGeom prst="rect">
            <a:avLst/>
          </a:prstGeom>
        </p:spPr>
      </p:pic>
      <p:sp>
        <p:nvSpPr>
          <p:cNvPr id="17451" name="TextBox 17450"/>
          <p:cNvSpPr txBox="1"/>
          <p:nvPr/>
        </p:nvSpPr>
        <p:spPr>
          <a:xfrm>
            <a:off x="9699498" y="4041648"/>
            <a:ext cx="2068830" cy="42062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D64545"/>
                </a:solidFill>
                <a:latin typeface="Arial"/>
              </a:rPr>
              <a:t>Safety &amp; governance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9224010" y="4572000"/>
            <a:ext cx="2507741" cy="13716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marL="155448" indent="-155448">
              <a:spcAft>
                <a:spcPts val="600"/>
              </a:spcAft>
              <a:buClr>
                <a:srgbClr val="D64545"/>
              </a:buClr>
              <a:buFont typeface="Arial"/>
              <a:buChar char="•"/>
            </a:pPr>
            <a:r>
              <a:rPr sz="1200" b="0" i="0">
                <a:solidFill>
                  <a:srgbClr val="1C2733"/>
                </a:solidFill>
                <a:latin typeface="Arial"/>
              </a:rPr>
              <a:t>Disaster alerts in &lt; 5 minutes</a:t>
            </a:r>
          </a:p>
          <a:p>
            <a:pPr algn="l" marL="155448" indent="-155448">
              <a:spcAft>
                <a:spcPts val="600"/>
              </a:spcAft>
              <a:buClr>
                <a:srgbClr val="D64545"/>
              </a:buClr>
              <a:buFont typeface="Arial"/>
              <a:buChar char="•"/>
            </a:pPr>
            <a:r>
              <a:rPr sz="1200" b="0" i="0">
                <a:solidFill>
                  <a:srgbClr val="1C2733"/>
                </a:solidFill>
                <a:latin typeface="Arial"/>
              </a:rPr>
              <a:t>Evidence-based planning</a:t>
            </a:r>
          </a:p>
          <a:p>
            <a:pPr algn="l" marL="155448" indent="-155448">
              <a:spcAft>
                <a:spcPts val="600"/>
              </a:spcAft>
              <a:buClr>
                <a:srgbClr val="D64545"/>
              </a:buClr>
              <a:buFont typeface="Arial"/>
              <a:buChar char="•"/>
            </a:pPr>
            <a:r>
              <a:rPr sz="1200" b="0" i="0">
                <a:solidFill>
                  <a:srgbClr val="1C2733"/>
                </a:solidFill>
                <a:latin typeface="Arial"/>
              </a:rPr>
              <a:t>Supports SDG 8.9, 11, 12.b</a:t>
            </a:r>
          </a:p>
        </p:txBody>
      </p:sp>
      <p:sp>
        <p:nvSpPr>
          <p:cNvPr id="17453" name="TextBox 17452"/>
          <p:cNvSpPr txBox="1"/>
          <p:nvPr/>
        </p:nvSpPr>
        <p:spPr>
          <a:xfrm>
            <a:off x="365760" y="6035040"/>
            <a:ext cx="11430000" cy="2286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596572"/>
                </a:solidFill>
                <a:latin typeface="Arial"/>
              </a:rPr>
              <a:t>*Pilot targets / indicative estimates, to be validated in a district pilot.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0" rIns="0"/>
          <a:lstStyle/>
          <a:p>
            <a:pPr algn="ctr"/>
            <a:r>
              <a:rPr lang="en-US" dirty="0" b="1" sz="1300"/>
              <a:t>PRAHARI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0" name="Rounded Rectangle 17409"/>
          <p:cNvSpPr/>
          <p:nvPr/>
        </p:nvSpPr>
        <p:spPr>
          <a:xfrm>
            <a:off x="365760" y="1188720"/>
            <a:ext cx="11457432" cy="310896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27432" bIns="27432" wrap="square"/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E87722"/>
                </a:solidFill>
                <a:latin typeface="Arial"/>
              </a:rPr>
              <a:t>❖  </a:t>
            </a:r>
            <a:r>
              <a:rPr sz="1200" b="1" i="0">
                <a:solidFill>
                  <a:srgbClr val="FFFFFF"/>
                </a:solidFill>
                <a:latin typeface="Arial"/>
              </a:rPr>
              <a:t>Details / Links of the reference and research work</a:t>
            </a:r>
          </a:p>
        </p:txBody>
      </p:sp>
      <p:sp>
        <p:nvSpPr>
          <p:cNvPr id="17411" name="Oval 17410"/>
          <p:cNvSpPr/>
          <p:nvPr/>
        </p:nvSpPr>
        <p:spPr>
          <a:xfrm>
            <a:off x="365760" y="1645920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pic>
        <p:nvPicPr>
          <p:cNvPr id="17412" name="Picture 17411" descr="uni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931" y="1738091"/>
            <a:ext cx="199704" cy="199704"/>
          </a:xfrm>
          <a:prstGeom prst="rect">
            <a:avLst/>
          </a:prstGeom>
        </p:spPr>
      </p:pic>
      <p:sp>
        <p:nvSpPr>
          <p:cNvPr id="17413" name="TextBox 17412"/>
          <p:cNvSpPr txBox="1"/>
          <p:nvPr/>
        </p:nvSpPr>
        <p:spPr>
          <a:xfrm>
            <a:off x="841248" y="1645920"/>
            <a:ext cx="5074920" cy="3840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Government data &amp; policy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365760" y="2121408"/>
            <a:ext cx="5577840" cy="35661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marL="155448" indent="-155448">
              <a:spcAft>
                <a:spcPts val="500"/>
              </a:spcAft>
              <a:buClr>
                <a:srgbClr val="1F3864"/>
              </a:buClr>
              <a:buFont typeface="Arial"/>
              <a:buChar char="•"/>
            </a:pPr>
            <a:r>
              <a:rPr sz="1100" b="0" i="0">
                <a:solidFill>
                  <a:srgbClr val="1C2733"/>
                </a:solidFill>
                <a:latin typeface="Arial"/>
              </a:rPr>
              <a:t>Ministry of Tourism: India Tourism Statistics 2024 &amp; Tourism Satellite Account</a:t>
            </a:r>
            <a:r>
              <a:rPr sz="1100" b="0" i="0">
                <a:solidFill>
                  <a:srgbClr val="1C2733"/>
                </a:solidFill>
                <a:latin typeface="Arial"/>
              </a:rPr>
              <a:t>  </a:t>
            </a:r>
            <a:r>
              <a:rPr sz="1100" b="0" i="0">
                <a:solidFill>
                  <a:srgbClr val="0070C0"/>
                </a:solidFill>
                <a:latin typeface="Arial"/>
                <a:hlinkClick r:id="rId5"/>
              </a:rPr>
              <a:t>tourism.gov.in</a:t>
            </a:r>
          </a:p>
          <a:p>
            <a:pPr algn="l" marL="155448" indent="-155448">
              <a:spcAft>
                <a:spcPts val="500"/>
              </a:spcAft>
              <a:buClr>
                <a:srgbClr val="1F3864"/>
              </a:buClr>
              <a:buFont typeface="Arial"/>
              <a:buChar char="•"/>
            </a:pPr>
            <a:r>
              <a:rPr sz="1100" b="0" i="0">
                <a:solidFill>
                  <a:srgbClr val="1C2733"/>
                </a:solidFill>
                <a:latin typeface="Arial"/>
              </a:rPr>
              <a:t>Swadesh Darshan 2.0, SASCI iconic destinations (PIB releases)</a:t>
            </a:r>
            <a:r>
              <a:rPr sz="1100" b="0" i="0">
                <a:solidFill>
                  <a:srgbClr val="1C2733"/>
                </a:solidFill>
                <a:latin typeface="Arial"/>
              </a:rPr>
              <a:t>  </a:t>
            </a:r>
            <a:r>
              <a:rPr sz="1100" b="0" i="0">
                <a:solidFill>
                  <a:srgbClr val="0070C0"/>
                </a:solidFill>
                <a:latin typeface="Arial"/>
                <a:hlinkClick r:id="rId6"/>
              </a:rPr>
              <a:t>pib.gov.in</a:t>
            </a:r>
          </a:p>
          <a:p>
            <a:pPr algn="l" marL="155448" indent="-155448">
              <a:spcAft>
                <a:spcPts val="500"/>
              </a:spcAft>
              <a:buClr>
                <a:srgbClr val="1F3864"/>
              </a:buClr>
              <a:buFont typeface="Arial"/>
              <a:buChar char="•"/>
            </a:pPr>
            <a:r>
              <a:rPr sz="1100" b="0" i="0">
                <a:solidFill>
                  <a:srgbClr val="1C2733"/>
                </a:solidFill>
                <a:latin typeface="Arial"/>
              </a:rPr>
              <a:t>Union Budget 2025-26: 50 destinations, MUDRA loans for homestays</a:t>
            </a:r>
            <a:r>
              <a:rPr sz="1100" b="0" i="0">
                <a:solidFill>
                  <a:srgbClr val="1C2733"/>
                </a:solidFill>
                <a:latin typeface="Arial"/>
              </a:rPr>
              <a:t>  </a:t>
            </a:r>
            <a:r>
              <a:rPr sz="1100" b="0" i="0">
                <a:solidFill>
                  <a:srgbClr val="0070C0"/>
                </a:solidFill>
                <a:latin typeface="Arial"/>
                <a:hlinkClick r:id="rId7"/>
              </a:rPr>
              <a:t>indiabudget.gov.in</a:t>
            </a:r>
          </a:p>
          <a:p>
            <a:pPr algn="l" marL="155448" indent="-155448">
              <a:spcAft>
                <a:spcPts val="500"/>
              </a:spcAft>
              <a:buClr>
                <a:srgbClr val="1F3864"/>
              </a:buClr>
              <a:buFont typeface="Arial"/>
              <a:buChar char="•"/>
            </a:pPr>
            <a:r>
              <a:rPr sz="1100" b="0" i="0">
                <a:solidFill>
                  <a:srgbClr val="1C2733"/>
                </a:solidFill>
                <a:latin typeface="Arial"/>
              </a:rPr>
              <a:t>Madras HC e-pass for Ooty &amp; Kodaikanal (2024); NGT Rohtang vehicle caps</a:t>
            </a:r>
          </a:p>
          <a:p>
            <a:pPr algn="l" marL="155448" indent="-155448">
              <a:spcAft>
                <a:spcPts val="500"/>
              </a:spcAft>
              <a:buClr>
                <a:srgbClr val="1F3864"/>
              </a:buClr>
              <a:buFont typeface="Arial"/>
              <a:buChar char="•"/>
            </a:pPr>
            <a:r>
              <a:rPr sz="1100" b="0" i="0">
                <a:solidFill>
                  <a:srgbClr val="1C2733"/>
                </a:solidFill>
                <a:latin typeface="Arial"/>
              </a:rPr>
              <a:t>UNWTO (2018) 'Overtourism?' Understanding &amp; managing urban tourism growth</a:t>
            </a:r>
            <a:r>
              <a:rPr sz="1100" b="0" i="0">
                <a:solidFill>
                  <a:srgbClr val="1C2733"/>
                </a:solidFill>
                <a:latin typeface="Arial"/>
              </a:rPr>
              <a:t>  </a:t>
            </a:r>
            <a:r>
              <a:rPr sz="1100" b="0" i="0">
                <a:solidFill>
                  <a:srgbClr val="0070C0"/>
                </a:solidFill>
                <a:latin typeface="Arial"/>
                <a:hlinkClick r:id="rId8"/>
              </a:rPr>
              <a:t>e-unwto.org</a:t>
            </a:r>
          </a:p>
          <a:p>
            <a:pPr algn="l" marL="155448" indent="-155448">
              <a:spcAft>
                <a:spcPts val="500"/>
              </a:spcAft>
              <a:buClr>
                <a:srgbClr val="1F3864"/>
              </a:buClr>
              <a:buFont typeface="Arial"/>
              <a:buChar char="•"/>
            </a:pPr>
            <a:r>
              <a:rPr sz="1100" b="0" i="0">
                <a:solidFill>
                  <a:srgbClr val="1C2733"/>
                </a:solidFill>
                <a:latin typeface="Arial"/>
              </a:rPr>
              <a:t>Digital Personal Data Protection Act 2023</a:t>
            </a:r>
            <a:r>
              <a:rPr sz="1100" b="0" i="0">
                <a:solidFill>
                  <a:srgbClr val="1C2733"/>
                </a:solidFill>
                <a:latin typeface="Arial"/>
              </a:rPr>
              <a:t>  </a:t>
            </a:r>
            <a:r>
              <a:rPr sz="1100" b="0" i="0">
                <a:solidFill>
                  <a:srgbClr val="0070C0"/>
                </a:solidFill>
                <a:latin typeface="Arial"/>
                <a:hlinkClick r:id="rId9"/>
              </a:rPr>
              <a:t>meity.gov.in</a:t>
            </a:r>
          </a:p>
          <a:p>
            <a:pPr algn="l" marL="155448" indent="-155448">
              <a:spcAft>
                <a:spcPts val="500"/>
              </a:spcAft>
              <a:buClr>
                <a:srgbClr val="1F3864"/>
              </a:buClr>
              <a:buFont typeface="Arial"/>
              <a:buChar char="•"/>
            </a:pPr>
            <a:r>
              <a:rPr sz="1100" b="0" i="0">
                <a:solidFill>
                  <a:srgbClr val="1C2733"/>
                </a:solidFill>
                <a:latin typeface="Arial"/>
              </a:rPr>
              <a:t>ONDC open network (Beckn protocol)</a:t>
            </a:r>
            <a:r>
              <a:rPr sz="1100" b="0" i="0">
                <a:solidFill>
                  <a:srgbClr val="1C2733"/>
                </a:solidFill>
                <a:latin typeface="Arial"/>
              </a:rPr>
              <a:t>  </a:t>
            </a:r>
            <a:r>
              <a:rPr sz="1100" b="0" i="0">
                <a:solidFill>
                  <a:srgbClr val="0070C0"/>
                </a:solidFill>
                <a:latin typeface="Arial"/>
                <a:hlinkClick r:id="rId10"/>
              </a:rPr>
              <a:t>ondc.org</a:t>
            </a:r>
          </a:p>
          <a:p>
            <a:pPr algn="l" marL="155448" indent="-155448">
              <a:spcAft>
                <a:spcPts val="500"/>
              </a:spcAft>
              <a:buClr>
                <a:srgbClr val="1F3864"/>
              </a:buClr>
              <a:buFont typeface="Arial"/>
              <a:buChar char="•"/>
            </a:pPr>
            <a:r>
              <a:rPr sz="1100" b="0" i="0">
                <a:solidFill>
                  <a:srgbClr val="1C2733"/>
                </a:solidFill>
                <a:latin typeface="Arial"/>
              </a:rPr>
              <a:t>Bhashini language platform (MeitY)</a:t>
            </a:r>
            <a:r>
              <a:rPr sz="1100" b="0" i="0">
                <a:solidFill>
                  <a:srgbClr val="1C2733"/>
                </a:solidFill>
                <a:latin typeface="Arial"/>
              </a:rPr>
              <a:t>  </a:t>
            </a:r>
            <a:r>
              <a:rPr sz="1100" b="0" i="0">
                <a:solidFill>
                  <a:srgbClr val="0070C0"/>
                </a:solidFill>
                <a:latin typeface="Arial"/>
                <a:hlinkClick r:id="rId11"/>
              </a:rPr>
              <a:t>bhashini.gov.in</a:t>
            </a:r>
          </a:p>
          <a:p>
            <a:pPr algn="l" marL="155448" indent="-155448">
              <a:spcAft>
                <a:spcPts val="500"/>
              </a:spcAft>
              <a:buClr>
                <a:srgbClr val="1F3864"/>
              </a:buClr>
              <a:buFont typeface="Arial"/>
              <a:buChar char="•"/>
            </a:pPr>
            <a:r>
              <a:rPr sz="1100" b="0" i="0">
                <a:solidFill>
                  <a:srgbClr val="1C2733"/>
                </a:solidFill>
                <a:latin typeface="Arial"/>
              </a:rPr>
              <a:t>NDMA SACHET disaster alerts</a:t>
            </a:r>
            <a:r>
              <a:rPr sz="1100" b="0" i="0">
                <a:solidFill>
                  <a:srgbClr val="1C2733"/>
                </a:solidFill>
                <a:latin typeface="Arial"/>
              </a:rPr>
              <a:t>  </a:t>
            </a:r>
            <a:r>
              <a:rPr sz="1100" b="0" i="0">
                <a:solidFill>
                  <a:srgbClr val="0070C0"/>
                </a:solidFill>
                <a:latin typeface="Arial"/>
                <a:hlinkClick r:id="rId12"/>
              </a:rPr>
              <a:t>sachet.ndma.gov.in</a:t>
            </a:r>
          </a:p>
          <a:p>
            <a:pPr algn="l" marL="155448" indent="-155448">
              <a:spcAft>
                <a:spcPts val="500"/>
              </a:spcAft>
              <a:buClr>
                <a:srgbClr val="1F3864"/>
              </a:buClr>
              <a:buFont typeface="Arial"/>
              <a:buChar char="•"/>
            </a:pPr>
            <a:r>
              <a:rPr sz="1100" b="0" i="0">
                <a:solidFill>
                  <a:srgbClr val="1C2733"/>
                </a:solidFill>
                <a:latin typeface="Arial"/>
              </a:rPr>
              <a:t>NIDHI hospitality database (Ministry of Tourism)</a:t>
            </a:r>
            <a:r>
              <a:rPr sz="1100" b="0" i="0">
                <a:solidFill>
                  <a:srgbClr val="1C2733"/>
                </a:solidFill>
                <a:latin typeface="Arial"/>
              </a:rPr>
              <a:t>  </a:t>
            </a:r>
            <a:r>
              <a:rPr sz="1100" b="0" i="0">
                <a:solidFill>
                  <a:srgbClr val="0070C0"/>
                </a:solidFill>
                <a:latin typeface="Arial"/>
                <a:hlinkClick r:id="rId13"/>
              </a:rPr>
              <a:t>nidhi.tourism.gov.in</a:t>
            </a:r>
          </a:p>
        </p:txBody>
      </p:sp>
      <p:sp>
        <p:nvSpPr>
          <p:cNvPr id="17415" name="Oval 17414"/>
          <p:cNvSpPr/>
          <p:nvPr/>
        </p:nvSpPr>
        <p:spPr>
          <a:xfrm>
            <a:off x="6245352" y="1645920"/>
            <a:ext cx="384048" cy="384048"/>
          </a:xfrm>
          <a:prstGeom prst="ellipse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pic>
        <p:nvPicPr>
          <p:cNvPr id="17416" name="Picture 17415" descr="flask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37523" y="1738091"/>
            <a:ext cx="199704" cy="199704"/>
          </a:xfrm>
          <a:prstGeom prst="rect">
            <a:avLst/>
          </a:prstGeom>
        </p:spPr>
      </p:pic>
      <p:sp>
        <p:nvSpPr>
          <p:cNvPr id="17417" name="TextBox 17416"/>
          <p:cNvSpPr txBox="1"/>
          <p:nvPr/>
        </p:nvSpPr>
        <p:spPr>
          <a:xfrm>
            <a:off x="6720840" y="1645920"/>
            <a:ext cx="5074920" cy="3840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E87722"/>
                </a:solidFill>
                <a:latin typeface="Arial"/>
              </a:rPr>
              <a:t>Research papers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6245352" y="2121408"/>
            <a:ext cx="5577840" cy="35661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marL="155448" indent="-155448">
              <a:spcAft>
                <a:spcPts val="500"/>
              </a:spcAft>
              <a:buClr>
                <a:srgbClr val="E87722"/>
              </a:buClr>
              <a:buFont typeface="Arial"/>
              <a:buChar char="•"/>
            </a:pPr>
            <a:r>
              <a:rPr sz="1100" b="0" i="0">
                <a:solidFill>
                  <a:srgbClr val="1C2733"/>
                </a:solidFill>
                <a:latin typeface="Arial"/>
              </a:rPr>
              <a:t>Song &amp; Li (2008) Tourism demand forecasting review, Tourism Management 29(2)</a:t>
            </a:r>
            <a:r>
              <a:rPr sz="1100" b="0" i="0">
                <a:solidFill>
                  <a:srgbClr val="1C2733"/>
                </a:solidFill>
                <a:latin typeface="Arial"/>
              </a:rPr>
              <a:t>  </a:t>
            </a:r>
            <a:r>
              <a:rPr sz="1100" b="0" i="0">
                <a:solidFill>
                  <a:srgbClr val="0070C0"/>
                </a:solidFill>
                <a:latin typeface="Arial"/>
                <a:hlinkClick r:id="rId15"/>
              </a:rPr>
              <a:t>doi:10.1016/j.tourman.2007.07.016</a:t>
            </a:r>
          </a:p>
          <a:p>
            <a:pPr algn="l" marL="155448" indent="-155448">
              <a:spcAft>
                <a:spcPts val="500"/>
              </a:spcAft>
              <a:buClr>
                <a:srgbClr val="E87722"/>
              </a:buClr>
              <a:buFont typeface="Arial"/>
              <a:buChar char="•"/>
            </a:pPr>
            <a:r>
              <a:rPr sz="1100" b="0" i="0">
                <a:solidFill>
                  <a:srgbClr val="1C2733"/>
                </a:solidFill>
                <a:latin typeface="Arial"/>
              </a:rPr>
              <a:t>Bangwayo-Skeete &amp; Skeete (2015) Google data improves arrival forecasts, Tourism Management 46</a:t>
            </a:r>
          </a:p>
          <a:p>
            <a:pPr algn="l" marL="155448" indent="-155448">
              <a:spcAft>
                <a:spcPts val="500"/>
              </a:spcAft>
              <a:buClr>
                <a:srgbClr val="E87722"/>
              </a:buClr>
              <a:buFont typeface="Arial"/>
              <a:buChar char="•"/>
            </a:pPr>
            <a:r>
              <a:rPr sz="1100" b="0" i="0">
                <a:solidFill>
                  <a:srgbClr val="1C2733"/>
                </a:solidFill>
                <a:latin typeface="Arial"/>
              </a:rPr>
              <a:t>Law et al. (2019) Deep learning for tourism demand, Annals of Tourism Research 75</a:t>
            </a:r>
          </a:p>
          <a:p>
            <a:pPr algn="l" marL="155448" indent="-155448">
              <a:spcAft>
                <a:spcPts val="500"/>
              </a:spcAft>
              <a:buClr>
                <a:srgbClr val="E87722"/>
              </a:buClr>
              <a:buFont typeface="Arial"/>
              <a:buChar char="•"/>
            </a:pPr>
            <a:r>
              <a:rPr sz="1100" b="0" i="0">
                <a:solidFill>
                  <a:srgbClr val="1C2733"/>
                </a:solidFill>
                <a:latin typeface="Arial"/>
              </a:rPr>
              <a:t>Lim et al. (2021) Temporal Fusion Transformers, Int. J. of Forecasting</a:t>
            </a:r>
            <a:r>
              <a:rPr sz="1100" b="0" i="0">
                <a:solidFill>
                  <a:srgbClr val="1C2733"/>
                </a:solidFill>
                <a:latin typeface="Arial"/>
              </a:rPr>
              <a:t>  </a:t>
            </a:r>
            <a:r>
              <a:rPr sz="1100" b="0" i="0">
                <a:solidFill>
                  <a:srgbClr val="0070C0"/>
                </a:solidFill>
                <a:latin typeface="Arial"/>
                <a:hlinkClick r:id="rId16"/>
              </a:rPr>
              <a:t>arXiv:1912.09363</a:t>
            </a:r>
          </a:p>
          <a:p>
            <a:pPr algn="l" marL="155448" indent="-155448">
              <a:spcAft>
                <a:spcPts val="500"/>
              </a:spcAft>
              <a:buClr>
                <a:srgbClr val="E87722"/>
              </a:buClr>
              <a:buFont typeface="Arial"/>
              <a:buChar char="•"/>
            </a:pPr>
            <a:r>
              <a:rPr sz="1100" b="0" i="0">
                <a:solidFill>
                  <a:srgbClr val="1C2733"/>
                </a:solidFill>
                <a:latin typeface="Arial"/>
              </a:rPr>
              <a:t>Wickramasuriya et al. (2019) MinT forecast reconciliation, JASA</a:t>
            </a:r>
            <a:r>
              <a:rPr sz="1100" b="0" i="0">
                <a:solidFill>
                  <a:srgbClr val="1C2733"/>
                </a:solidFill>
                <a:latin typeface="Arial"/>
              </a:rPr>
              <a:t>  </a:t>
            </a:r>
            <a:r>
              <a:rPr sz="1100" b="0" i="0">
                <a:solidFill>
                  <a:srgbClr val="0070C0"/>
                </a:solidFill>
                <a:latin typeface="Arial"/>
                <a:hlinkClick r:id="rId17"/>
              </a:rPr>
              <a:t>doi:10.1080/01621459.2018.1448825</a:t>
            </a:r>
          </a:p>
          <a:p>
            <a:pPr algn="l" marL="155448" indent="-155448">
              <a:spcAft>
                <a:spcPts val="500"/>
              </a:spcAft>
              <a:buClr>
                <a:srgbClr val="E87722"/>
              </a:buClr>
              <a:buFont typeface="Arial"/>
              <a:buChar char="•"/>
            </a:pPr>
            <a:r>
              <a:rPr sz="1100" b="0" i="0">
                <a:solidFill>
                  <a:srgbClr val="1C2733"/>
                </a:solidFill>
                <a:latin typeface="Arial"/>
              </a:rPr>
              <a:t>Cifuentes (1992) Tourism carrying-capacity method, CATIE</a:t>
            </a:r>
          </a:p>
          <a:p>
            <a:pPr algn="l" marL="155448" indent="-155448">
              <a:spcAft>
                <a:spcPts val="500"/>
              </a:spcAft>
              <a:buClr>
                <a:srgbClr val="E87722"/>
              </a:buClr>
              <a:buFont typeface="Arial"/>
              <a:buChar char="•"/>
            </a:pPr>
            <a:r>
              <a:rPr sz="1100" b="0" i="0">
                <a:solidFill>
                  <a:srgbClr val="1C2733"/>
                </a:solidFill>
                <a:latin typeface="Arial"/>
              </a:rPr>
              <a:t>Butler (1980) Tourist Area Life Cycle, Canadian Geographer</a:t>
            </a:r>
            <a:r>
              <a:rPr sz="1100" b="0" i="0">
                <a:solidFill>
                  <a:srgbClr val="1C2733"/>
                </a:solidFill>
                <a:latin typeface="Arial"/>
              </a:rPr>
              <a:t>  </a:t>
            </a:r>
            <a:r>
              <a:rPr sz="1100" b="0" i="0">
                <a:solidFill>
                  <a:srgbClr val="0070C0"/>
                </a:solidFill>
                <a:latin typeface="Arial"/>
                <a:hlinkClick r:id="rId18"/>
              </a:rPr>
              <a:t>doi:10.1111/j.1541-0064.1980.tb00970.x</a:t>
            </a:r>
          </a:p>
          <a:p>
            <a:pPr algn="l" marL="155448" indent="-155448">
              <a:spcAft>
                <a:spcPts val="500"/>
              </a:spcAft>
              <a:buClr>
                <a:srgbClr val="E87722"/>
              </a:buClr>
              <a:buFont typeface="Arial"/>
              <a:buChar char="•"/>
            </a:pPr>
            <a:r>
              <a:rPr sz="1100" b="0" i="0">
                <a:solidFill>
                  <a:srgbClr val="1C2733"/>
                </a:solidFill>
                <a:latin typeface="Arial"/>
              </a:rPr>
              <a:t>Agrawal &amp; Goyal (2012) Thompson Sampling analysis, COLT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365760" y="5779008"/>
            <a:ext cx="11457432" cy="457200"/>
          </a:xfrm>
          <a:prstGeom prst="roundRect">
            <a:avLst>
              <a:gd name="adj" fmla="val 30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27432" bIns="27432" wrap="square"/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F3864"/>
                </a:solidFill>
                <a:latin typeface="Arial"/>
              </a:rPr>
              <a:t>Supporting research: </a:t>
            </a:r>
            <a:r>
              <a:rPr sz="1050" b="0" i="0">
                <a:solidFill>
                  <a:srgbClr val="1C2733"/>
                </a:solidFill>
                <a:latin typeface="Arial"/>
              </a:rPr>
              <a:t>Detailed Business Model Canvas, architecture, competitor analysis &amp; ROI are in our Additional Document (PRAHARI_Additional_Document.pdf).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7487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147</cp:revision>
  <dcterms:created xsi:type="dcterms:W3CDTF">2013-12-12T18:46:50Z</dcterms:created>
  <dcterms:modified xsi:type="dcterms:W3CDTF">2025-06-26T06:39:00Z</dcterms:modified>
  <cp:category/>
</cp:coreProperties>
</file>